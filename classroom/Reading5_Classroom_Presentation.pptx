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What am I demonstrating?</a:t>
            </a:r>
          </a:p>
          <a:p>
            <a:r>
              <a:t>Suggested time: 30 seconds</a:t>
            </a:r>
          </a:p>
          <a:p/>
          <a:p>
            <a:r>
              <a:t>READ-ALOUD SCRIPT</a:t>
            </a:r>
          </a:p>
          <a:p>
            <a:r>
              <a:t>My project tests whether varied training physics improves a learned controller's robustness. I model one robotic joint, where a PPO policy chooses a target angle and a PD controller supplies the torque. One policy trains with fixed physics; the other experiences randomized inertia, friction, and delay. I compare their joint tracking in nominal and unfamiliar simulations.</a:t>
            </a:r>
          </a:p>
          <a:p/>
          <a:p>
            <a:r>
              <a:t>POINT TO / DO</a:t>
            </a:r>
          </a:p>
          <a:p>
            <a:r>
              <a:t>Point to the single joint, the fixed-physics policy, and the randomized-physics policy.</a:t>
            </a:r>
          </a:p>
          <a:p/>
          <a:p>
            <a:r>
              <a:t>TRANSITION</a:t>
            </a:r>
          </a:p>
          <a:p>
            <a:r>
              <a:t>I will run the program and briefly show where that comparison happens.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Run the code and follow the workflow</a:t>
            </a:r>
          </a:p>
          <a:p>
            <a:r>
              <a:t>Suggested time: 90 seconds</a:t>
            </a:r>
          </a:p>
          <a:p/>
          <a:p>
            <a:r>
              <a:t>READ-ALOUD SCRIPT</a:t>
            </a:r>
          </a:p>
          <a:p>
            <a:r>
              <a:t>I run reading5_sim2real_ppo.py using the project's Python environment. In Joint.step, the policy's angle target becomes a saturated PD torque, then the joint dynamics advance. In train, Stable-Baselines3 PPO learns from tracking rewards. The main function checks the environment, trains both policies, evaluates thirty matched episodes per policy and condition, prints the metrics, and creates three graphs. The saved run took about twenty-eight seconds on the cloud CPU.</a:t>
            </a:r>
          </a:p>
          <a:p/>
          <a:p>
            <a:r>
              <a:t>POINT TO / DO</a:t>
            </a:r>
          </a:p>
          <a:p>
            <a:r>
              <a:t>Run .\.venv\Scripts\python.exe reading5_sim2real_ppo.py. Show Joint.step and train while it runs, then point to the terminal results and generated PNGs.</a:t>
            </a:r>
          </a:p>
          <a:p/>
          <a:p>
            <a:r>
              <a:t>TRANSITION</a:t>
            </a:r>
          </a:p>
          <a:p>
            <a:r>
              <a:t>The graphs make the learning and tracking behavior easier to interpret.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Does the joint follow the target?</a:t>
            </a:r>
          </a:p>
          <a:p>
            <a:r>
              <a:t>Suggested time: 55 seconds</a:t>
            </a:r>
          </a:p>
          <a:p/>
          <a:p>
            <a:r>
              <a:t>READ-ALOUD SCRIPT</a:t>
            </a:r>
          </a:p>
          <a:p>
            <a:r>
              <a:t>The terminal shows evaluation statistics, and the program also saves the training-reward graph. Here I focus on the held-out tracking plot. The dashed line is the desired angle; the colored line is the joint's actual angle. The randomized policy tracks more smoothly in this example. Both policies pass this seed, so overall success needs all thirty trials.</a:t>
            </a:r>
          </a:p>
          <a:p/>
          <a:p>
            <a:r>
              <a:t>POINT TO / DO</a:t>
            </a:r>
          </a:p>
          <a:p>
            <a:r>
              <a:t>Briefly open fig1_training_rewards.png during the live run, then show the full tracking plot. Identify desired versus actual angle; seed 1000 is one preselected example.</a:t>
            </a:r>
          </a:p>
          <a:p/>
          <a:p>
            <a:r>
              <a:t>TRANSITION</a:t>
            </a:r>
          </a:p>
          <a:p>
            <a:r>
              <a:t>The success-rate graph summarizes all thirty evaluation trials per condition.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What do the results mean?</a:t>
            </a:r>
          </a:p>
          <a:p>
            <a:r>
              <a:t>Suggested time: 50 seconds</a:t>
            </a:r>
          </a:p>
          <a:p/>
          <a:p>
            <a:r>
              <a:t>READ-ALOUD SCRIPT</a:t>
            </a:r>
          </a:p>
          <a:p>
            <a:r>
              <a:t>Both policies succeeded in all thirty nominal trials. In the unfamiliar simulation, the fixed policy succeeded in fourteen of thirty trials, compared with twenty-nine of thirty for the randomized policy. Mean tracking RMSE decreased from 0.3299 to 0.2250 radians. This supports better robustness for this trained policy pair, while one training seed and simplified physics limit the conclusion.</a:t>
            </a:r>
          </a:p>
          <a:p/>
          <a:p>
            <a:r>
              <a:t>POINT TO / DO</a:t>
            </a:r>
          </a:p>
          <a:p>
            <a:r>
              <a:t>Point to 14/30 versus 29/30, the held-out RMSE values, and the nominal 100% bars. Success requires RMSE below 0.32 rad for a full safe episode.</a:t>
            </a:r>
          </a:p>
          <a:p/>
          <a:p>
            <a:r>
              <a:t>TRANSITION</a:t>
            </a:r>
          </a:p>
          <a:p>
            <a:r>
              <a:t>That result illustrates the sim-to-real ideas discussed in the assigned readings.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How does this connect to Reading 5?</a:t>
            </a:r>
          </a:p>
          <a:p>
            <a:r>
              <a:t>Suggested time: 50 seconds</a:t>
            </a:r>
          </a:p>
          <a:p/>
          <a:p>
            <a:r>
              <a:t>READ-ALOUD SCRIPT</a:t>
            </a:r>
          </a:p>
          <a:p>
            <a:r>
              <a:t>Tan and colleagues motivate randomized simulation and careful actuator modeling for robot transfer. Zhao and colleagues place these methods within the broader reality-gap problem. Sutton and Barto explain policy-gradient foundations; PPO is the specific clipped-surrogate actor–critic method used here. MuJoCo represents richer multibody and contact simulation. My simple joint illustrates these ideas without reproducing full robot physics.</a:t>
            </a:r>
          </a:p>
          <a:p/>
          <a:p>
            <a:r>
              <a:t>POINT TO / DO</a:t>
            </a:r>
          </a:p>
          <a:p>
            <a:r>
              <a:t>Point to each source and its one-line connection. MuJoCo is a reference connection, not a dependency used by this program.</a:t>
            </a:r>
          </a:p>
          <a:p/>
          <a:p>
            <a:r>
              <a:t>TRANSITION</a:t>
            </a:r>
          </a:p>
          <a:p>
            <a:r>
              <a:t>A practical application is a robot joint whose physical behavior changes during use.</a:t>
            </a:r>
          </a:p>
          <a:p>
            <a:r>
              <a:t>TAN ET AL. (2018): https://arxiv.org/abs/1804.10332</a:t>
            </a:r>
          </a:p>
          <a:p>
            <a:r>
              <a:t>ZHAO ET AL. · SURVEY: https://arxiv.org/abs/2009.13303</a:t>
            </a:r>
          </a:p>
          <a:p>
            <a:r>
              <a:t>SUTTON &amp; BARTO · CH. 13: http://incompleteideas.net/book/the-book-2nd.html</a:t>
            </a:r>
          </a:p>
          <a:p>
            <a:r>
              <a:t>MUJOCO: https://mujoco.org/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A real robotics application and the takeaway</a:t>
            </a:r>
          </a:p>
          <a:p>
            <a:r>
              <a:t>Suggested time: 40 seconds</a:t>
            </a:r>
          </a:p>
          <a:p/>
          <a:p>
            <a:r>
              <a:t>READ-ALOUD SCRIPT</a:t>
            </a:r>
          </a:p>
          <a:p>
            <a:r>
              <a:t>In a quadruped inspired by Go2 or ANYmal, payload changes can alter effective joint inertia, wear can change friction, and communication can introduce delay. Randomized training is one way to prepare a controller for that variation. My result demonstrates this idea in simulation. It does not establish physical robot transfer, balance, or walking; those require richer models and hardware validation.</a:t>
            </a:r>
          </a:p>
          <a:p/>
          <a:p>
            <a:r>
              <a:t>POINT TO / DO</a:t>
            </a:r>
          </a:p>
          <a:p>
            <a:r>
              <a:t>Connect inertia to load, friction to wear, and latency to actuator communication. End with the measured held-out improvement and its simulation-only scope.</a:t>
            </a:r>
          </a:p>
          <a:p/>
          <a:p>
            <a:r>
              <a:t>TRANSITION</a:t>
            </a:r>
          </a:p>
          <a:p>
            <a:r>
              <a:t>I can rerun the code or return to a graph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182880"/>
            <a:ext cx="9784080" cy="228600"/>
          </a:xfrm>
          <a:prstGeom prst="rect">
            <a:avLst/>
          </a:prstGeom>
          <a:noFill/>
        </p:spPr>
        <p:txBody>
          <a:bodyPr wrap="square" lIns="22860" rIns="22860" tIns="13716" bIns="13716">
            <a:spAutoFit/>
          </a:bodyPr>
          <a:lstStyle/>
          <a:p>
            <a:pPr algn="l">
              <a:spcAft>
                <a:spcPts val="700"/>
              </a:spcAft>
              <a:defRPr sz="1100" b="1">
                <a:solidFill>
                  <a:srgbClr val="00746C"/>
                </a:solidFill>
                <a:latin typeface="Arial"/>
              </a:defRPr>
            </a:pPr>
            <a:r>
              <a:t>ENGR 6010  /  AI IN ROBOTICS</a:t>
            </a:r>
          </a:p>
        </p:txBody>
      </p:sp>
      <p:sp>
        <p:nvSpPr>
          <p:cNvPr id="3" name="TextBox 2"/>
          <p:cNvSpPr txBox="1"/>
          <p:nvPr/>
        </p:nvSpPr>
        <p:spPr>
          <a:xfrm>
            <a:off x="530352" y="566928"/>
            <a:ext cx="11109960" cy="630936"/>
          </a:xfrm>
          <a:prstGeom prst="rect">
            <a:avLst/>
          </a:prstGeom>
          <a:noFill/>
        </p:spPr>
        <p:txBody>
          <a:bodyPr wrap="square" lIns="22860" rIns="22860" tIns="13716" bIns="13716">
            <a:spAutoFit/>
          </a:bodyPr>
          <a:lstStyle/>
          <a:p>
            <a:pPr algn="l">
              <a:spcAft>
                <a:spcPts val="700"/>
              </a:spcAft>
              <a:defRPr sz="3000" b="1">
                <a:solidFill>
                  <a:srgbClr val="14283F"/>
                </a:solidFill>
                <a:latin typeface="Arial"/>
              </a:defRPr>
            </a:pPr>
            <a:r>
              <a:t>What am I demonstrating?</a:t>
            </a:r>
          </a:p>
        </p:txBody>
      </p:sp>
      <p:sp>
        <p:nvSpPr>
          <p:cNvPr id="4" name="Rectangle 3"/>
          <p:cNvSpPr/>
          <p:nvPr/>
        </p:nvSpPr>
        <p:spPr>
          <a:xfrm>
            <a:off x="548640" y="1243584"/>
            <a:ext cx="11064240" cy="22860"/>
          </a:xfrm>
          <a:prstGeom prst="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30352" y="6117336"/>
            <a:ext cx="11109960" cy="420624"/>
          </a:xfrm>
          <a:prstGeom prst="roundRect">
            <a:avLst/>
          </a:prstGeom>
          <a:solidFill>
            <a:srgbClr val="E8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6208776"/>
            <a:ext cx="10817352" cy="246888"/>
          </a:xfrm>
          <a:prstGeom prst="rect">
            <a:avLst/>
          </a:prstGeom>
          <a:noFill/>
        </p:spPr>
        <p:txBody>
          <a:bodyPr wrap="square" lIns="22860" rIns="22860" tIns="13716" bIns="13716">
            <a:spAutoFit/>
          </a:bodyPr>
          <a:lstStyle/>
          <a:p>
            <a:pPr algn="l">
              <a:spcAft>
                <a:spcPts val="700"/>
              </a:spcAft>
              <a:defRPr sz="1400" b="0">
                <a:solidFill>
                  <a:srgbClr val="00746C"/>
                </a:solidFill>
                <a:latin typeface="Arial"/>
              </a:defRPr>
            </a:pPr>
            <a:r>
              <a:t>SAY  “Can training with varied physics help a joint controller handle an unfamiliar environment?”</a:t>
            </a:r>
          </a:p>
        </p:txBody>
      </p:sp>
      <p:sp>
        <p:nvSpPr>
          <p:cNvPr id="7" name="TextBox 6"/>
          <p:cNvSpPr txBox="1"/>
          <p:nvPr/>
        </p:nvSpPr>
        <p:spPr>
          <a:xfrm>
            <a:off x="548640" y="6620256"/>
            <a:ext cx="10332720" cy="164592"/>
          </a:xfrm>
          <a:prstGeom prst="rect">
            <a:avLst/>
          </a:prstGeom>
          <a:noFill/>
        </p:spPr>
        <p:txBody>
          <a:bodyPr wrap="square" lIns="22860" rIns="22860" tIns="13716" bIns="13716">
            <a:spAutoFit/>
          </a:bodyPr>
          <a:lstStyle/>
          <a:p>
            <a:pPr algn="l">
              <a:spcAft>
                <a:spcPts val="700"/>
              </a:spcAft>
              <a:defRPr sz="900" b="0">
                <a:solidFill>
                  <a:srgbClr val="526477"/>
                </a:solidFill>
                <a:latin typeface="Arial"/>
              </a:defRPr>
            </a:pPr>
            <a:r>
              <a:t>One-joint educational simulation  •  No physical robot trial</a:t>
            </a:r>
          </a:p>
        </p:txBody>
      </p:sp>
      <p:sp>
        <p:nvSpPr>
          <p:cNvPr id="8" name="TextBox 7"/>
          <p:cNvSpPr txBox="1"/>
          <p:nvPr/>
        </p:nvSpPr>
        <p:spPr>
          <a:xfrm>
            <a:off x="11009376" y="6611112"/>
            <a:ext cx="621792" cy="182880"/>
          </a:xfrm>
          <a:prstGeom prst="rect">
            <a:avLst/>
          </a:prstGeom>
          <a:noFill/>
        </p:spPr>
        <p:txBody>
          <a:bodyPr wrap="square" lIns="22860" rIns="22860" tIns="13716" bIns="13716">
            <a:spAutoFit/>
          </a:bodyPr>
          <a:lstStyle/>
          <a:p>
            <a:pPr algn="r">
              <a:spcAft>
                <a:spcPts val="700"/>
              </a:spcAft>
              <a:defRPr sz="1000" b="0">
                <a:solidFill>
                  <a:srgbClr val="526477"/>
                </a:solidFill>
                <a:latin typeface="Arial"/>
              </a:defRPr>
            </a:pPr>
            <a:r>
              <a:t>01 / 6</a:t>
            </a:r>
          </a:p>
        </p:txBody>
      </p:sp>
      <p:sp>
        <p:nvSpPr>
          <p:cNvPr id="9" name="TextBox 8"/>
          <p:cNvSpPr txBox="1"/>
          <p:nvPr/>
        </p:nvSpPr>
        <p:spPr>
          <a:xfrm>
            <a:off x="694944" y="1536192"/>
            <a:ext cx="10789920" cy="914400"/>
          </a:xfrm>
          <a:prstGeom prst="rect">
            <a:avLst/>
          </a:prstGeom>
          <a:noFill/>
        </p:spPr>
        <p:txBody>
          <a:bodyPr wrap="square" lIns="22860" rIns="22860" tIns="13716" bIns="13716">
            <a:spAutoFit/>
          </a:bodyPr>
          <a:lstStyle/>
          <a:p>
            <a:pPr algn="l">
              <a:spcAft>
                <a:spcPts val="700"/>
              </a:spcAft>
              <a:defRPr sz="3200" b="1">
                <a:solidFill>
                  <a:srgbClr val="14283F"/>
                </a:solidFill>
                <a:latin typeface="Arial"/>
              </a:defRPr>
            </a:pPr>
            <a:r>
              <a:t>Can training with varied physics make a joint controller more robust?</a:t>
            </a:r>
          </a:p>
        </p:txBody>
      </p:sp>
      <p:sp>
        <p:nvSpPr>
          <p:cNvPr id="10" name="Rounded Rectangle 9"/>
          <p:cNvSpPr/>
          <p:nvPr/>
        </p:nvSpPr>
        <p:spPr>
          <a:xfrm>
            <a:off x="914400" y="2788920"/>
            <a:ext cx="2971800" cy="1764792"/>
          </a:xfrm>
          <a:prstGeom prst="roundRect">
            <a:avLst/>
          </a:prstGeom>
          <a:solidFill>
            <a:srgbClr val="F0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4400" y="2788920"/>
            <a:ext cx="64008" cy="1764792"/>
          </a:xfrm>
          <a:prstGeom prst="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944368"/>
            <a:ext cx="2606040" cy="502920"/>
          </a:xfrm>
          <a:prstGeom prst="rect">
            <a:avLst/>
          </a:prstGeom>
          <a:noFill/>
        </p:spPr>
        <p:txBody>
          <a:bodyPr wrap="square" lIns="22860" rIns="22860" tIns="13716" bIns="13716">
            <a:spAutoFit/>
          </a:bodyPr>
          <a:lstStyle/>
          <a:p>
            <a:pPr algn="l">
              <a:spcAft>
                <a:spcPts val="700"/>
              </a:spcAft>
              <a:defRPr sz="2000" b="1">
                <a:solidFill>
                  <a:srgbClr val="00746C"/>
                </a:solidFill>
                <a:latin typeface="Arial"/>
              </a:defRPr>
            </a:pPr>
            <a:r>
              <a:t>PPO POLICY</a:t>
            </a:r>
          </a:p>
        </p:txBody>
      </p:sp>
      <p:sp>
        <p:nvSpPr>
          <p:cNvPr id="13" name="TextBox 12"/>
          <p:cNvSpPr txBox="1"/>
          <p:nvPr/>
        </p:nvSpPr>
        <p:spPr>
          <a:xfrm>
            <a:off x="1097280" y="3566160"/>
            <a:ext cx="2606040" cy="896112"/>
          </a:xfrm>
          <a:prstGeom prst="rect">
            <a:avLst/>
          </a:prstGeom>
          <a:noFill/>
        </p:spPr>
        <p:txBody>
          <a:bodyPr wrap="square" lIns="22860" rIns="22860" tIns="13716" bIns="13716">
            <a:spAutoFit/>
          </a:bodyPr>
          <a:lstStyle/>
          <a:p>
            <a:pPr algn="l">
              <a:spcAft>
                <a:spcPts val="700"/>
              </a:spcAft>
              <a:defRPr sz="2000" b="0">
                <a:solidFill>
                  <a:srgbClr val="14283F"/>
                </a:solidFill>
                <a:latin typeface="Arial"/>
              </a:defRPr>
            </a:pPr>
            <a:r>
              <a:t>Chooses a target angle</a:t>
            </a:r>
          </a:p>
        </p:txBody>
      </p:sp>
      <p:sp>
        <p:nvSpPr>
          <p:cNvPr id="14" name="Rounded Rectangle 13"/>
          <p:cNvSpPr/>
          <p:nvPr/>
        </p:nvSpPr>
        <p:spPr>
          <a:xfrm>
            <a:off x="4572000" y="2788920"/>
            <a:ext cx="2971800" cy="1764792"/>
          </a:xfrm>
          <a:prstGeom prst="roundRect">
            <a:avLst/>
          </a:prstGeom>
          <a:solidFill>
            <a:srgbClr val="F0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2788920"/>
            <a:ext cx="64008" cy="1764792"/>
          </a:xfrm>
          <a:prstGeom prst="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944368"/>
            <a:ext cx="2606040" cy="502920"/>
          </a:xfrm>
          <a:prstGeom prst="rect">
            <a:avLst/>
          </a:prstGeom>
          <a:noFill/>
        </p:spPr>
        <p:txBody>
          <a:bodyPr wrap="square" lIns="22860" rIns="22860" tIns="13716" bIns="13716">
            <a:spAutoFit/>
          </a:bodyPr>
          <a:lstStyle/>
          <a:p>
            <a:pPr algn="l">
              <a:spcAft>
                <a:spcPts val="700"/>
              </a:spcAft>
              <a:defRPr sz="2000" b="1">
                <a:solidFill>
                  <a:srgbClr val="00746C"/>
                </a:solidFill>
                <a:latin typeface="Arial"/>
              </a:defRPr>
            </a:pPr>
            <a:r>
              <a:t>PD CONTROL</a:t>
            </a:r>
          </a:p>
        </p:txBody>
      </p:sp>
      <p:sp>
        <p:nvSpPr>
          <p:cNvPr id="17" name="TextBox 16"/>
          <p:cNvSpPr txBox="1"/>
          <p:nvPr/>
        </p:nvSpPr>
        <p:spPr>
          <a:xfrm>
            <a:off x="4754880" y="3566160"/>
            <a:ext cx="2606040" cy="896112"/>
          </a:xfrm>
          <a:prstGeom prst="rect">
            <a:avLst/>
          </a:prstGeom>
          <a:noFill/>
        </p:spPr>
        <p:txBody>
          <a:bodyPr wrap="square" lIns="22860" rIns="22860" tIns="13716" bIns="13716">
            <a:spAutoFit/>
          </a:bodyPr>
          <a:lstStyle/>
          <a:p>
            <a:pPr algn="l">
              <a:spcAft>
                <a:spcPts val="700"/>
              </a:spcAft>
              <a:defRPr sz="2000" b="0">
                <a:solidFill>
                  <a:srgbClr val="14283F"/>
                </a:solidFill>
                <a:latin typeface="Arial"/>
              </a:defRPr>
            </a:pPr>
            <a:r>
              <a:t>Converts angle error to torque</a:t>
            </a:r>
          </a:p>
        </p:txBody>
      </p:sp>
      <p:sp>
        <p:nvSpPr>
          <p:cNvPr id="18" name="Rounded Rectangle 17"/>
          <p:cNvSpPr/>
          <p:nvPr/>
        </p:nvSpPr>
        <p:spPr>
          <a:xfrm>
            <a:off x="8229600" y="2788920"/>
            <a:ext cx="2971800" cy="1764792"/>
          </a:xfrm>
          <a:prstGeom prst="roundRect">
            <a:avLst/>
          </a:prstGeom>
          <a:solidFill>
            <a:srgbClr val="F0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2788920"/>
            <a:ext cx="64008" cy="1764792"/>
          </a:xfrm>
          <a:prstGeom prst="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0" y="2944368"/>
            <a:ext cx="2606040" cy="502920"/>
          </a:xfrm>
          <a:prstGeom prst="rect">
            <a:avLst/>
          </a:prstGeom>
          <a:noFill/>
        </p:spPr>
        <p:txBody>
          <a:bodyPr wrap="square" lIns="22860" rIns="22860" tIns="13716" bIns="13716">
            <a:spAutoFit/>
          </a:bodyPr>
          <a:lstStyle/>
          <a:p>
            <a:pPr algn="l">
              <a:spcAft>
                <a:spcPts val="700"/>
              </a:spcAft>
              <a:defRPr sz="2000" b="1">
                <a:solidFill>
                  <a:srgbClr val="00746C"/>
                </a:solidFill>
                <a:latin typeface="Arial"/>
              </a:defRPr>
            </a:pPr>
            <a:r>
              <a:t>SIMULATED JOINT</a:t>
            </a:r>
          </a:p>
        </p:txBody>
      </p:sp>
      <p:sp>
        <p:nvSpPr>
          <p:cNvPr id="21" name="TextBox 20"/>
          <p:cNvSpPr txBox="1"/>
          <p:nvPr/>
        </p:nvSpPr>
        <p:spPr>
          <a:xfrm>
            <a:off x="8412480" y="3566160"/>
            <a:ext cx="2606040" cy="896112"/>
          </a:xfrm>
          <a:prstGeom prst="rect">
            <a:avLst/>
          </a:prstGeom>
          <a:noFill/>
        </p:spPr>
        <p:txBody>
          <a:bodyPr wrap="square" lIns="22860" rIns="22860" tIns="13716" bIns="13716">
            <a:spAutoFit/>
          </a:bodyPr>
          <a:lstStyle/>
          <a:p>
            <a:pPr algn="l">
              <a:spcAft>
                <a:spcPts val="700"/>
              </a:spcAft>
              <a:defRPr sz="2000" b="0">
                <a:solidFill>
                  <a:srgbClr val="14283F"/>
                </a:solidFill>
                <a:latin typeface="Arial"/>
              </a:defRPr>
            </a:pPr>
            <a:r>
              <a:t>Moves with inertia + friction</a:t>
            </a:r>
          </a:p>
        </p:txBody>
      </p:sp>
      <p:cxnSp>
        <p:nvCxnSpPr>
          <p:cNvPr id="22" name="Connector 21"/>
          <p:cNvCxnSpPr/>
          <p:nvPr/>
        </p:nvCxnSpPr>
        <p:spPr>
          <a:xfrm>
            <a:off x="3886200" y="3657600"/>
            <a:ext cx="594360" cy="0"/>
          </a:xfrm>
          <a:prstGeom prst="line">
            <a:avLst/>
          </a:prstGeom>
          <a:ln w="31750">
            <a:solidFill>
              <a:srgbClr val="00746C"/>
            </a:solidFill>
          </a:ln>
        </p:spPr>
        <p:style>
          <a:lnRef idx="2">
            <a:schemeClr val="accent1"/>
          </a:lnRef>
          <a:fillRef idx="0">
            <a:schemeClr val="accent1"/>
          </a:fillRef>
          <a:effectRef idx="1">
            <a:schemeClr val="accent1"/>
          </a:effectRef>
          <a:fontRef idx="minor">
            <a:schemeClr val="tx1"/>
          </a:fontRef>
        </p:style>
      </p:cxnSp>
      <p:sp>
        <p:nvSpPr>
          <p:cNvPr id="23" name="Chevron 22"/>
          <p:cNvSpPr/>
          <p:nvPr/>
        </p:nvSpPr>
        <p:spPr>
          <a:xfrm>
            <a:off x="4416552" y="3584448"/>
            <a:ext cx="137160" cy="146304"/>
          </a:xfrm>
          <a:prstGeom prst="chevron">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7543800" y="3657600"/>
            <a:ext cx="594360" cy="0"/>
          </a:xfrm>
          <a:prstGeom prst="line">
            <a:avLst/>
          </a:prstGeom>
          <a:ln w="31750">
            <a:solidFill>
              <a:srgbClr val="00746C"/>
            </a:solidFill>
          </a:ln>
        </p:spPr>
        <p:style>
          <a:lnRef idx="2">
            <a:schemeClr val="accent1"/>
          </a:lnRef>
          <a:fillRef idx="0">
            <a:schemeClr val="accent1"/>
          </a:fillRef>
          <a:effectRef idx="1">
            <a:schemeClr val="accent1"/>
          </a:effectRef>
          <a:fontRef idx="minor">
            <a:schemeClr val="tx1"/>
          </a:fontRef>
        </p:style>
      </p:cxnSp>
      <p:sp>
        <p:nvSpPr>
          <p:cNvPr id="25" name="Chevron 24"/>
          <p:cNvSpPr/>
          <p:nvPr/>
        </p:nvSpPr>
        <p:spPr>
          <a:xfrm>
            <a:off x="8074152" y="3584448"/>
            <a:ext cx="137160" cy="146304"/>
          </a:xfrm>
          <a:prstGeom prst="chevron">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029200"/>
            <a:ext cx="10607040" cy="658368"/>
          </a:xfrm>
          <a:prstGeom prst="rect">
            <a:avLst/>
          </a:prstGeom>
          <a:noFill/>
        </p:spPr>
        <p:txBody>
          <a:bodyPr wrap="square" lIns="22860" rIns="22860" tIns="13716" bIns="13716">
            <a:spAutoFit/>
          </a:bodyPr>
          <a:lstStyle/>
          <a:p>
            <a:pPr algn="l">
              <a:spcAft>
                <a:spcPts val="700"/>
              </a:spcAft>
              <a:defRPr sz="2400" b="1">
                <a:solidFill>
                  <a:srgbClr val="00746C"/>
                </a:solidFill>
                <a:latin typeface="Arial"/>
              </a:defRPr>
            </a:pPr>
            <a:r>
              <a:t>Compare two PPO agents: fixed training physics versus randomized training physics.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182880"/>
            <a:ext cx="9784080" cy="228600"/>
          </a:xfrm>
          <a:prstGeom prst="rect">
            <a:avLst/>
          </a:prstGeom>
          <a:noFill/>
        </p:spPr>
        <p:txBody>
          <a:bodyPr wrap="square" lIns="22860" rIns="22860" tIns="13716" bIns="13716">
            <a:spAutoFit/>
          </a:bodyPr>
          <a:lstStyle/>
          <a:p>
            <a:pPr algn="l">
              <a:spcAft>
                <a:spcPts val="700"/>
              </a:spcAft>
              <a:defRPr sz="1100" b="1">
                <a:solidFill>
                  <a:srgbClr val="00746C"/>
                </a:solidFill>
                <a:latin typeface="Arial"/>
              </a:defRPr>
            </a:pPr>
            <a:r>
              <a:t>ENGR 6010  /  AI IN ROBOTICS</a:t>
            </a:r>
          </a:p>
        </p:txBody>
      </p:sp>
      <p:sp>
        <p:nvSpPr>
          <p:cNvPr id="3" name="TextBox 2"/>
          <p:cNvSpPr txBox="1"/>
          <p:nvPr/>
        </p:nvSpPr>
        <p:spPr>
          <a:xfrm>
            <a:off x="530352" y="566928"/>
            <a:ext cx="11109960" cy="630936"/>
          </a:xfrm>
          <a:prstGeom prst="rect">
            <a:avLst/>
          </a:prstGeom>
          <a:noFill/>
        </p:spPr>
        <p:txBody>
          <a:bodyPr wrap="square" lIns="22860" rIns="22860" tIns="13716" bIns="13716">
            <a:spAutoFit/>
          </a:bodyPr>
          <a:lstStyle/>
          <a:p>
            <a:pPr algn="l">
              <a:spcAft>
                <a:spcPts val="700"/>
              </a:spcAft>
              <a:defRPr sz="3000" b="1">
                <a:solidFill>
                  <a:srgbClr val="14283F"/>
                </a:solidFill>
                <a:latin typeface="Arial"/>
              </a:defRPr>
            </a:pPr>
            <a:r>
              <a:t>Run the code and follow the workflow</a:t>
            </a:r>
          </a:p>
        </p:txBody>
      </p:sp>
      <p:sp>
        <p:nvSpPr>
          <p:cNvPr id="4" name="Rectangle 3"/>
          <p:cNvSpPr/>
          <p:nvPr/>
        </p:nvSpPr>
        <p:spPr>
          <a:xfrm>
            <a:off x="548640" y="1243584"/>
            <a:ext cx="11064240" cy="22860"/>
          </a:xfrm>
          <a:prstGeom prst="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30352" y="6117336"/>
            <a:ext cx="11109960" cy="420624"/>
          </a:xfrm>
          <a:prstGeom prst="roundRect">
            <a:avLst/>
          </a:prstGeom>
          <a:solidFill>
            <a:srgbClr val="E8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6208776"/>
            <a:ext cx="10817352" cy="246888"/>
          </a:xfrm>
          <a:prstGeom prst="rect">
            <a:avLst/>
          </a:prstGeom>
          <a:noFill/>
        </p:spPr>
        <p:txBody>
          <a:bodyPr wrap="square" lIns="22860" rIns="22860" tIns="13716" bIns="13716">
            <a:spAutoFit/>
          </a:bodyPr>
          <a:lstStyle/>
          <a:p>
            <a:pPr algn="l">
              <a:spcAft>
                <a:spcPts val="700"/>
              </a:spcAft>
              <a:defRPr sz="1400" b="0">
                <a:solidFill>
                  <a:srgbClr val="00746C"/>
                </a:solidFill>
                <a:latin typeface="Arial"/>
              </a:defRPr>
            </a:pPr>
            <a:r>
              <a:t>SAY  “The program builds the joint, trains two policies, evaluates both, and saves the graphs.”</a:t>
            </a:r>
          </a:p>
        </p:txBody>
      </p:sp>
      <p:sp>
        <p:nvSpPr>
          <p:cNvPr id="7" name="TextBox 6"/>
          <p:cNvSpPr txBox="1"/>
          <p:nvPr/>
        </p:nvSpPr>
        <p:spPr>
          <a:xfrm>
            <a:off x="548640" y="6620256"/>
            <a:ext cx="10332720" cy="164592"/>
          </a:xfrm>
          <a:prstGeom prst="rect">
            <a:avLst/>
          </a:prstGeom>
          <a:noFill/>
        </p:spPr>
        <p:txBody>
          <a:bodyPr wrap="square" lIns="22860" rIns="22860" tIns="13716" bIns="13716">
            <a:spAutoFit/>
          </a:bodyPr>
          <a:lstStyle/>
          <a:p>
            <a:pPr algn="l">
              <a:spcAft>
                <a:spcPts val="700"/>
              </a:spcAft>
              <a:defRPr sz="900" b="0">
                <a:solidFill>
                  <a:srgbClr val="526477"/>
                </a:solidFill>
                <a:latin typeface="Arial"/>
              </a:defRPr>
            </a:pPr>
            <a:r>
              <a:t>One-joint educational simulation  •  No physical robot trial</a:t>
            </a:r>
          </a:p>
        </p:txBody>
      </p:sp>
      <p:sp>
        <p:nvSpPr>
          <p:cNvPr id="8" name="TextBox 7"/>
          <p:cNvSpPr txBox="1"/>
          <p:nvPr/>
        </p:nvSpPr>
        <p:spPr>
          <a:xfrm>
            <a:off x="11009376" y="6611112"/>
            <a:ext cx="621792" cy="182880"/>
          </a:xfrm>
          <a:prstGeom prst="rect">
            <a:avLst/>
          </a:prstGeom>
          <a:noFill/>
        </p:spPr>
        <p:txBody>
          <a:bodyPr wrap="square" lIns="22860" rIns="22860" tIns="13716" bIns="13716">
            <a:spAutoFit/>
          </a:bodyPr>
          <a:lstStyle/>
          <a:p>
            <a:pPr algn="r">
              <a:spcAft>
                <a:spcPts val="700"/>
              </a:spcAft>
              <a:defRPr sz="1000" b="0">
                <a:solidFill>
                  <a:srgbClr val="526477"/>
                </a:solidFill>
                <a:latin typeface="Arial"/>
              </a:defRPr>
            </a:pPr>
            <a:r>
              <a:t>02 / 6</a:t>
            </a:r>
          </a:p>
        </p:txBody>
      </p:sp>
      <p:sp>
        <p:nvSpPr>
          <p:cNvPr id="9" name="TextBox 8"/>
          <p:cNvSpPr txBox="1"/>
          <p:nvPr/>
        </p:nvSpPr>
        <p:spPr>
          <a:xfrm>
            <a:off x="731520" y="1572768"/>
            <a:ext cx="10789920" cy="502920"/>
          </a:xfrm>
          <a:prstGeom prst="rect">
            <a:avLst/>
          </a:prstGeom>
          <a:noFill/>
        </p:spPr>
        <p:txBody>
          <a:bodyPr wrap="square" lIns="22860" rIns="22860" tIns="13716" bIns="13716">
            <a:spAutoFit/>
          </a:bodyPr>
          <a:lstStyle/>
          <a:p>
            <a:pPr algn="l">
              <a:spcAft>
                <a:spcPts val="700"/>
              </a:spcAft>
              <a:defRPr sz="2600" b="1">
                <a:solidFill>
                  <a:srgbClr val="14283F"/>
                </a:solidFill>
                <a:latin typeface="Arial"/>
              </a:defRPr>
            </a:pPr>
            <a:r>
              <a:t>Run the program from the working project folder:</a:t>
            </a:r>
          </a:p>
        </p:txBody>
      </p:sp>
      <p:sp>
        <p:nvSpPr>
          <p:cNvPr id="10" name="Rounded Rectangle 9"/>
          <p:cNvSpPr/>
          <p:nvPr/>
        </p:nvSpPr>
        <p:spPr>
          <a:xfrm>
            <a:off x="713232" y="2286000"/>
            <a:ext cx="10789920" cy="868680"/>
          </a:xfrm>
          <a:prstGeom prst="roundRect">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560320"/>
            <a:ext cx="10332720" cy="393192"/>
          </a:xfrm>
          <a:prstGeom prst="rect">
            <a:avLst/>
          </a:prstGeom>
          <a:noFill/>
        </p:spPr>
        <p:txBody>
          <a:bodyPr wrap="square" lIns="22860" rIns="22860" tIns="13716" bIns="13716">
            <a:spAutoFit/>
          </a:bodyPr>
          <a:lstStyle/>
          <a:p>
            <a:pPr algn="l">
              <a:spcAft>
                <a:spcPts val="700"/>
              </a:spcAft>
              <a:defRPr sz="2300" b="0">
                <a:solidFill>
                  <a:srgbClr val="FFFFFF"/>
                </a:solidFill>
                <a:latin typeface="Consolas"/>
              </a:defRPr>
            </a:pPr>
            <a:r>
              <a:t>.\.venv\Scripts\python.exe reading5_sim2real_ppo.py</a:t>
            </a:r>
          </a:p>
        </p:txBody>
      </p:sp>
      <p:sp>
        <p:nvSpPr>
          <p:cNvPr id="12" name="Rounded Rectangle 11"/>
          <p:cNvSpPr/>
          <p:nvPr/>
        </p:nvSpPr>
        <p:spPr>
          <a:xfrm>
            <a:off x="749808" y="3547872"/>
            <a:ext cx="3401568" cy="1819656"/>
          </a:xfrm>
          <a:prstGeom prst="roundRect">
            <a:avLst/>
          </a:prstGeom>
          <a:solidFill>
            <a:srgbClr val="F0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8" y="3547872"/>
            <a:ext cx="64008" cy="1819656"/>
          </a:xfrm>
          <a:prstGeom prst="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703320"/>
            <a:ext cx="3035808" cy="502920"/>
          </a:xfrm>
          <a:prstGeom prst="rect">
            <a:avLst/>
          </a:prstGeom>
          <a:noFill/>
        </p:spPr>
        <p:txBody>
          <a:bodyPr wrap="square" lIns="22860" rIns="22860" tIns="13716" bIns="13716">
            <a:spAutoFit/>
          </a:bodyPr>
          <a:lstStyle/>
          <a:p>
            <a:pPr algn="l">
              <a:spcAft>
                <a:spcPts val="700"/>
              </a:spcAft>
              <a:defRPr sz="2200" b="1">
                <a:solidFill>
                  <a:srgbClr val="00746C"/>
                </a:solidFill>
                <a:latin typeface="Arial"/>
              </a:defRPr>
            </a:pPr>
            <a:r>
              <a:t>1  TRAIN</a:t>
            </a:r>
          </a:p>
        </p:txBody>
      </p:sp>
      <p:sp>
        <p:nvSpPr>
          <p:cNvPr id="15" name="TextBox 14"/>
          <p:cNvSpPr txBox="1"/>
          <p:nvPr/>
        </p:nvSpPr>
        <p:spPr>
          <a:xfrm>
            <a:off x="932688" y="4325112"/>
            <a:ext cx="3035808" cy="950976"/>
          </a:xfrm>
          <a:prstGeom prst="rect">
            <a:avLst/>
          </a:prstGeom>
          <a:noFill/>
        </p:spPr>
        <p:txBody>
          <a:bodyPr wrap="square" lIns="22860" rIns="22860" tIns="13716" bIns="13716">
            <a:spAutoFit/>
          </a:bodyPr>
          <a:lstStyle/>
          <a:p>
            <a:pPr algn="l">
              <a:spcAft>
                <a:spcPts val="700"/>
              </a:spcAft>
              <a:defRPr sz="2000" b="0">
                <a:solidFill>
                  <a:srgbClr val="14283F"/>
                </a:solidFill>
                <a:latin typeface="Arial"/>
              </a:defRPr>
            </a:pPr>
            <a:r>
              <a:t>Same PPO recipe.</a:t>
            </a:r>
          </a:p>
          <a:p>
            <a:pPr algn="l">
              <a:spcAft>
                <a:spcPts val="700"/>
              </a:spcAft>
              <a:defRPr sz="2000" b="0">
                <a:solidFill>
                  <a:srgbClr val="14283F"/>
                </a:solidFill>
                <a:latin typeface="Arial"/>
              </a:defRPr>
            </a:pPr>
            <a:r>
              <a:t>Different training physics.</a:t>
            </a:r>
          </a:p>
        </p:txBody>
      </p:sp>
      <p:sp>
        <p:nvSpPr>
          <p:cNvPr id="16" name="Rounded Rectangle 15"/>
          <p:cNvSpPr/>
          <p:nvPr/>
        </p:nvSpPr>
        <p:spPr>
          <a:xfrm>
            <a:off x="4389120" y="3547872"/>
            <a:ext cx="3401568" cy="1819656"/>
          </a:xfrm>
          <a:prstGeom prst="roundRect">
            <a:avLst/>
          </a:prstGeom>
          <a:solidFill>
            <a:srgbClr val="F0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89120" y="3547872"/>
            <a:ext cx="64008" cy="1819656"/>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3703320"/>
            <a:ext cx="3035808" cy="502920"/>
          </a:xfrm>
          <a:prstGeom prst="rect">
            <a:avLst/>
          </a:prstGeom>
          <a:noFill/>
        </p:spPr>
        <p:txBody>
          <a:bodyPr wrap="square" lIns="22860" rIns="22860" tIns="13716" bIns="13716">
            <a:spAutoFit/>
          </a:bodyPr>
          <a:lstStyle/>
          <a:p>
            <a:pPr algn="l">
              <a:spcAft>
                <a:spcPts val="700"/>
              </a:spcAft>
              <a:defRPr sz="2200" b="1">
                <a:solidFill>
                  <a:srgbClr val="0072B2"/>
                </a:solidFill>
                <a:latin typeface="Arial"/>
              </a:defRPr>
            </a:pPr>
            <a:r>
              <a:t>2  TEST</a:t>
            </a:r>
          </a:p>
        </p:txBody>
      </p:sp>
      <p:sp>
        <p:nvSpPr>
          <p:cNvPr id="19" name="TextBox 18"/>
          <p:cNvSpPr txBox="1"/>
          <p:nvPr/>
        </p:nvSpPr>
        <p:spPr>
          <a:xfrm>
            <a:off x="4572000" y="4325112"/>
            <a:ext cx="3035808" cy="950976"/>
          </a:xfrm>
          <a:prstGeom prst="rect">
            <a:avLst/>
          </a:prstGeom>
          <a:noFill/>
        </p:spPr>
        <p:txBody>
          <a:bodyPr wrap="square" lIns="22860" rIns="22860" tIns="13716" bIns="13716">
            <a:spAutoFit/>
          </a:bodyPr>
          <a:lstStyle/>
          <a:p>
            <a:pPr algn="l">
              <a:spcAft>
                <a:spcPts val="700"/>
              </a:spcAft>
              <a:defRPr sz="2000" b="0">
                <a:solidFill>
                  <a:srgbClr val="14283F"/>
                </a:solidFill>
                <a:latin typeface="Arial"/>
              </a:defRPr>
            </a:pPr>
            <a:r>
              <a:t>Nominal + held-out.</a:t>
            </a:r>
          </a:p>
          <a:p>
            <a:pPr algn="l">
              <a:spcAft>
                <a:spcPts val="700"/>
              </a:spcAft>
              <a:defRPr sz="2000" b="0">
                <a:solidFill>
                  <a:srgbClr val="14283F"/>
                </a:solidFill>
                <a:latin typeface="Arial"/>
              </a:defRPr>
            </a:pPr>
            <a:r>
              <a:t>30 matched trials each.</a:t>
            </a:r>
          </a:p>
        </p:txBody>
      </p:sp>
      <p:sp>
        <p:nvSpPr>
          <p:cNvPr id="20" name="Rounded Rectangle 19"/>
          <p:cNvSpPr/>
          <p:nvPr/>
        </p:nvSpPr>
        <p:spPr>
          <a:xfrm>
            <a:off x="8028431" y="3547872"/>
            <a:ext cx="3401568" cy="1819656"/>
          </a:xfrm>
          <a:prstGeom prst="roundRect">
            <a:avLst/>
          </a:prstGeom>
          <a:solidFill>
            <a:srgbClr val="F0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28431" y="3547872"/>
            <a:ext cx="64008" cy="1819656"/>
          </a:xfrm>
          <a:prstGeom prst="rect">
            <a:avLst/>
          </a:prstGeom>
          <a:solidFill>
            <a:srgbClr val="C659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1" y="3703320"/>
            <a:ext cx="3035808" cy="502920"/>
          </a:xfrm>
          <a:prstGeom prst="rect">
            <a:avLst/>
          </a:prstGeom>
          <a:noFill/>
        </p:spPr>
        <p:txBody>
          <a:bodyPr wrap="square" lIns="22860" rIns="22860" tIns="13716" bIns="13716">
            <a:spAutoFit/>
          </a:bodyPr>
          <a:lstStyle/>
          <a:p>
            <a:pPr algn="l">
              <a:spcAft>
                <a:spcPts val="700"/>
              </a:spcAft>
              <a:defRPr sz="2200" b="1">
                <a:solidFill>
                  <a:srgbClr val="C65924"/>
                </a:solidFill>
                <a:latin typeface="Arial"/>
              </a:defRPr>
            </a:pPr>
            <a:r>
              <a:t>3  VIEW</a:t>
            </a:r>
          </a:p>
        </p:txBody>
      </p:sp>
      <p:sp>
        <p:nvSpPr>
          <p:cNvPr id="23" name="TextBox 22"/>
          <p:cNvSpPr txBox="1"/>
          <p:nvPr/>
        </p:nvSpPr>
        <p:spPr>
          <a:xfrm>
            <a:off x="8211311" y="4325112"/>
            <a:ext cx="3035808" cy="950976"/>
          </a:xfrm>
          <a:prstGeom prst="rect">
            <a:avLst/>
          </a:prstGeom>
          <a:noFill/>
        </p:spPr>
        <p:txBody>
          <a:bodyPr wrap="square" lIns="22860" rIns="22860" tIns="13716" bIns="13716">
            <a:spAutoFit/>
          </a:bodyPr>
          <a:lstStyle/>
          <a:p>
            <a:pPr algn="l">
              <a:spcAft>
                <a:spcPts val="700"/>
              </a:spcAft>
              <a:defRPr sz="2000" b="0">
                <a:solidFill>
                  <a:srgbClr val="14283F"/>
                </a:solidFill>
                <a:latin typeface="Arial"/>
              </a:defRPr>
            </a:pPr>
            <a:r>
              <a:t>Print evaluation metrics.</a:t>
            </a:r>
          </a:p>
          <a:p>
            <a:pPr algn="l">
              <a:spcAft>
                <a:spcPts val="700"/>
              </a:spcAft>
              <a:defRPr sz="2000" b="0">
                <a:solidFill>
                  <a:srgbClr val="14283F"/>
                </a:solidFill>
                <a:latin typeface="Arial"/>
              </a:defRPr>
            </a:pPr>
            <a:r>
              <a:t>Save three PNG graphs.</a:t>
            </a:r>
          </a:p>
        </p:txBody>
      </p:sp>
      <p:sp>
        <p:nvSpPr>
          <p:cNvPr id="24" name="TextBox 23"/>
          <p:cNvSpPr txBox="1"/>
          <p:nvPr/>
        </p:nvSpPr>
        <p:spPr>
          <a:xfrm>
            <a:off x="777240" y="5669280"/>
            <a:ext cx="10607040" cy="256032"/>
          </a:xfrm>
          <a:prstGeom prst="rect">
            <a:avLst/>
          </a:prstGeom>
          <a:noFill/>
        </p:spPr>
        <p:txBody>
          <a:bodyPr wrap="square" lIns="22860" rIns="22860" tIns="13716" bIns="13716">
            <a:spAutoFit/>
          </a:bodyPr>
          <a:lstStyle/>
          <a:p>
            <a:pPr algn="l">
              <a:spcAft>
                <a:spcPts val="700"/>
              </a:spcAft>
              <a:defRPr sz="1500" b="0">
                <a:solidFill>
                  <a:srgbClr val="526477"/>
                </a:solidFill>
                <a:latin typeface="Arial"/>
              </a:defRPr>
            </a:pPr>
            <a:r>
              <a:t>Code tour: Joint.step() = physics + reward; train() = PPO; main() = experiment + graphs.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182880"/>
            <a:ext cx="9784080" cy="228600"/>
          </a:xfrm>
          <a:prstGeom prst="rect">
            <a:avLst/>
          </a:prstGeom>
          <a:noFill/>
        </p:spPr>
        <p:txBody>
          <a:bodyPr wrap="square" lIns="22860" rIns="22860" tIns="13716" bIns="13716">
            <a:spAutoFit/>
          </a:bodyPr>
          <a:lstStyle/>
          <a:p>
            <a:pPr algn="l">
              <a:spcAft>
                <a:spcPts val="700"/>
              </a:spcAft>
              <a:defRPr sz="1100" b="1">
                <a:solidFill>
                  <a:srgbClr val="00746C"/>
                </a:solidFill>
                <a:latin typeface="Arial"/>
              </a:defRPr>
            </a:pPr>
            <a:r>
              <a:t>ENGR 6010  /  AI IN ROBOTICS</a:t>
            </a:r>
          </a:p>
        </p:txBody>
      </p:sp>
      <p:sp>
        <p:nvSpPr>
          <p:cNvPr id="3" name="TextBox 2"/>
          <p:cNvSpPr txBox="1"/>
          <p:nvPr/>
        </p:nvSpPr>
        <p:spPr>
          <a:xfrm>
            <a:off x="530352" y="566928"/>
            <a:ext cx="11109960" cy="630936"/>
          </a:xfrm>
          <a:prstGeom prst="rect">
            <a:avLst/>
          </a:prstGeom>
          <a:noFill/>
        </p:spPr>
        <p:txBody>
          <a:bodyPr wrap="square" lIns="22860" rIns="22860" tIns="13716" bIns="13716">
            <a:spAutoFit/>
          </a:bodyPr>
          <a:lstStyle/>
          <a:p>
            <a:pPr algn="l">
              <a:spcAft>
                <a:spcPts val="700"/>
              </a:spcAft>
              <a:defRPr sz="3000" b="1">
                <a:solidFill>
                  <a:srgbClr val="14283F"/>
                </a:solidFill>
                <a:latin typeface="Arial"/>
              </a:defRPr>
            </a:pPr>
            <a:r>
              <a:t>Does the joint follow the target?</a:t>
            </a:r>
          </a:p>
        </p:txBody>
      </p:sp>
      <p:sp>
        <p:nvSpPr>
          <p:cNvPr id="4" name="Rectangle 3"/>
          <p:cNvSpPr/>
          <p:nvPr/>
        </p:nvSpPr>
        <p:spPr>
          <a:xfrm>
            <a:off x="548640" y="1243584"/>
            <a:ext cx="11064240" cy="22860"/>
          </a:xfrm>
          <a:prstGeom prst="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30352" y="6117336"/>
            <a:ext cx="11109960" cy="420624"/>
          </a:xfrm>
          <a:prstGeom prst="roundRect">
            <a:avLst/>
          </a:prstGeom>
          <a:solidFill>
            <a:srgbClr val="E8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6208776"/>
            <a:ext cx="10817352" cy="246888"/>
          </a:xfrm>
          <a:prstGeom prst="rect">
            <a:avLst/>
          </a:prstGeom>
          <a:noFill/>
        </p:spPr>
        <p:txBody>
          <a:bodyPr wrap="square" lIns="22860" rIns="22860" tIns="13716" bIns="13716">
            <a:spAutoFit/>
          </a:bodyPr>
          <a:lstStyle/>
          <a:p>
            <a:pPr algn="l">
              <a:spcAft>
                <a:spcPts val="700"/>
              </a:spcAft>
              <a:defRPr sz="1400" b="0">
                <a:solidFill>
                  <a:srgbClr val="00746C"/>
                </a:solidFill>
                <a:latin typeface="Arial"/>
              </a:defRPr>
            </a:pPr>
            <a:r>
              <a:t>SAY  “The dashed line is the desired angle; the colored line shows what the joint does.”</a:t>
            </a:r>
          </a:p>
        </p:txBody>
      </p:sp>
      <p:sp>
        <p:nvSpPr>
          <p:cNvPr id="7" name="TextBox 6"/>
          <p:cNvSpPr txBox="1"/>
          <p:nvPr/>
        </p:nvSpPr>
        <p:spPr>
          <a:xfrm>
            <a:off x="548640" y="6620256"/>
            <a:ext cx="10332720" cy="164592"/>
          </a:xfrm>
          <a:prstGeom prst="rect">
            <a:avLst/>
          </a:prstGeom>
          <a:noFill/>
        </p:spPr>
        <p:txBody>
          <a:bodyPr wrap="square" lIns="22860" rIns="22860" tIns="13716" bIns="13716">
            <a:spAutoFit/>
          </a:bodyPr>
          <a:lstStyle/>
          <a:p>
            <a:pPr algn="l">
              <a:spcAft>
                <a:spcPts val="700"/>
              </a:spcAft>
              <a:defRPr sz="900" b="0">
                <a:solidFill>
                  <a:srgbClr val="526477"/>
                </a:solidFill>
                <a:latin typeface="Arial"/>
              </a:defRPr>
            </a:pPr>
            <a:r>
              <a:t>One-joint educational simulation  •  No physical robot trial</a:t>
            </a:r>
          </a:p>
        </p:txBody>
      </p:sp>
      <p:sp>
        <p:nvSpPr>
          <p:cNvPr id="8" name="TextBox 7"/>
          <p:cNvSpPr txBox="1"/>
          <p:nvPr/>
        </p:nvSpPr>
        <p:spPr>
          <a:xfrm>
            <a:off x="11009376" y="6611112"/>
            <a:ext cx="621792" cy="182880"/>
          </a:xfrm>
          <a:prstGeom prst="rect">
            <a:avLst/>
          </a:prstGeom>
          <a:noFill/>
        </p:spPr>
        <p:txBody>
          <a:bodyPr wrap="square" lIns="22860" rIns="22860" tIns="13716" bIns="13716">
            <a:spAutoFit/>
          </a:bodyPr>
          <a:lstStyle/>
          <a:p>
            <a:pPr algn="r">
              <a:spcAft>
                <a:spcPts val="700"/>
              </a:spcAft>
              <a:defRPr sz="1000" b="0">
                <a:solidFill>
                  <a:srgbClr val="526477"/>
                </a:solidFill>
                <a:latin typeface="Arial"/>
              </a:defRPr>
            </a:pPr>
            <a:r>
              <a:t>03 / 6</a:t>
            </a:r>
          </a:p>
        </p:txBody>
      </p:sp>
      <p:pic>
        <p:nvPicPr>
          <p:cNvPr id="9" name="Picture 8" descr="tracking_for_slides.png"/>
          <p:cNvPicPr>
            <a:picLocks noChangeAspect="1"/>
          </p:cNvPicPr>
          <p:nvPr/>
        </p:nvPicPr>
        <p:blipFill>
          <a:blip r:embed="rId3"/>
          <a:stretch>
            <a:fillRect/>
          </a:stretch>
        </p:blipFill>
        <p:spPr>
          <a:xfrm>
            <a:off x="530352" y="1572768"/>
            <a:ext cx="11109960" cy="3791494"/>
          </a:xfrm>
          <a:prstGeom prst="rect">
            <a:avLst/>
          </a:prstGeom>
        </p:spPr>
      </p:pic>
      <p:sp>
        <p:nvSpPr>
          <p:cNvPr id="10" name="TextBox 9"/>
          <p:cNvSpPr txBox="1"/>
          <p:nvPr/>
        </p:nvSpPr>
        <p:spPr>
          <a:xfrm>
            <a:off x="758952" y="5477256"/>
            <a:ext cx="10744200" cy="320040"/>
          </a:xfrm>
          <a:prstGeom prst="rect">
            <a:avLst/>
          </a:prstGeom>
          <a:noFill/>
        </p:spPr>
        <p:txBody>
          <a:bodyPr wrap="square" lIns="22860" rIns="22860" tIns="13716" bIns="13716">
            <a:spAutoFit/>
          </a:bodyPr>
          <a:lstStyle/>
          <a:p>
            <a:pPr algn="l">
              <a:spcAft>
                <a:spcPts val="700"/>
              </a:spcAft>
              <a:defRPr sz="1800" b="1">
                <a:solidFill>
                  <a:srgbClr val="00746C"/>
                </a:solidFill>
                <a:latin typeface="Arial"/>
              </a:defRPr>
            </a:pPr>
            <a:r>
              <a:t>Dashed = desired angle  •  Colored = actual angle  •  Same held-out trial for both policies</a:t>
            </a:r>
          </a:p>
        </p:txBody>
      </p:sp>
      <p:sp>
        <p:nvSpPr>
          <p:cNvPr id="11" name="TextBox 10"/>
          <p:cNvSpPr txBox="1"/>
          <p:nvPr/>
        </p:nvSpPr>
        <p:spPr>
          <a:xfrm>
            <a:off x="758952" y="5806440"/>
            <a:ext cx="10744200" cy="201168"/>
          </a:xfrm>
          <a:prstGeom prst="rect">
            <a:avLst/>
          </a:prstGeom>
          <a:noFill/>
        </p:spPr>
        <p:txBody>
          <a:bodyPr wrap="square" lIns="22860" rIns="22860" tIns="13716" bIns="13716">
            <a:spAutoFit/>
          </a:bodyPr>
          <a:lstStyle/>
          <a:p>
            <a:pPr algn="l">
              <a:spcAft>
                <a:spcPts val="700"/>
              </a:spcAft>
              <a:defRPr sz="1400" b="0">
                <a:solidFill>
                  <a:srgbClr val="526477"/>
                </a:solidFill>
                <a:latin typeface="Arial"/>
              </a:defRPr>
            </a:pPr>
            <a:r>
              <a:t>Seed 1000: both pass RMSE &lt; 0.32 rad. Overall success uses all 30 trials, shown next.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182880"/>
            <a:ext cx="9784080" cy="228600"/>
          </a:xfrm>
          <a:prstGeom prst="rect">
            <a:avLst/>
          </a:prstGeom>
          <a:noFill/>
        </p:spPr>
        <p:txBody>
          <a:bodyPr wrap="square" lIns="22860" rIns="22860" tIns="13716" bIns="13716">
            <a:spAutoFit/>
          </a:bodyPr>
          <a:lstStyle/>
          <a:p>
            <a:pPr algn="l">
              <a:spcAft>
                <a:spcPts val="700"/>
              </a:spcAft>
              <a:defRPr sz="1100" b="1">
                <a:solidFill>
                  <a:srgbClr val="00746C"/>
                </a:solidFill>
                <a:latin typeface="Arial"/>
              </a:defRPr>
            </a:pPr>
            <a:r>
              <a:t>ENGR 6010  /  AI IN ROBOTICS</a:t>
            </a:r>
          </a:p>
        </p:txBody>
      </p:sp>
      <p:sp>
        <p:nvSpPr>
          <p:cNvPr id="3" name="TextBox 2"/>
          <p:cNvSpPr txBox="1"/>
          <p:nvPr/>
        </p:nvSpPr>
        <p:spPr>
          <a:xfrm>
            <a:off x="530352" y="566928"/>
            <a:ext cx="11109960" cy="630936"/>
          </a:xfrm>
          <a:prstGeom prst="rect">
            <a:avLst/>
          </a:prstGeom>
          <a:noFill/>
        </p:spPr>
        <p:txBody>
          <a:bodyPr wrap="square" lIns="22860" rIns="22860" tIns="13716" bIns="13716">
            <a:spAutoFit/>
          </a:bodyPr>
          <a:lstStyle/>
          <a:p>
            <a:pPr algn="l">
              <a:spcAft>
                <a:spcPts val="700"/>
              </a:spcAft>
              <a:defRPr sz="3000" b="1">
                <a:solidFill>
                  <a:srgbClr val="14283F"/>
                </a:solidFill>
                <a:latin typeface="Arial"/>
              </a:defRPr>
            </a:pPr>
            <a:r>
              <a:t>What do the results mean?</a:t>
            </a:r>
          </a:p>
        </p:txBody>
      </p:sp>
      <p:sp>
        <p:nvSpPr>
          <p:cNvPr id="4" name="Rectangle 3"/>
          <p:cNvSpPr/>
          <p:nvPr/>
        </p:nvSpPr>
        <p:spPr>
          <a:xfrm>
            <a:off x="548640" y="1243584"/>
            <a:ext cx="11064240" cy="22860"/>
          </a:xfrm>
          <a:prstGeom prst="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30352" y="6117336"/>
            <a:ext cx="11109960" cy="420624"/>
          </a:xfrm>
          <a:prstGeom prst="roundRect">
            <a:avLst/>
          </a:prstGeom>
          <a:solidFill>
            <a:srgbClr val="E8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6208776"/>
            <a:ext cx="10817352" cy="246888"/>
          </a:xfrm>
          <a:prstGeom prst="rect">
            <a:avLst/>
          </a:prstGeom>
          <a:noFill/>
        </p:spPr>
        <p:txBody>
          <a:bodyPr wrap="square" lIns="22860" rIns="22860" tIns="13716" bIns="13716">
            <a:spAutoFit/>
          </a:bodyPr>
          <a:lstStyle/>
          <a:p>
            <a:pPr algn="l">
              <a:spcAft>
                <a:spcPts val="700"/>
              </a:spcAft>
              <a:defRPr sz="1400" b="0">
                <a:solidFill>
                  <a:srgbClr val="00746C"/>
                </a:solidFill>
                <a:latin typeface="Arial"/>
              </a:defRPr>
            </a:pPr>
            <a:r>
              <a:t>SAY  “Randomization improved held-out performance for this policy pair; both policies succeeded in nominal simulation.”</a:t>
            </a:r>
          </a:p>
        </p:txBody>
      </p:sp>
      <p:sp>
        <p:nvSpPr>
          <p:cNvPr id="7" name="TextBox 6"/>
          <p:cNvSpPr txBox="1"/>
          <p:nvPr/>
        </p:nvSpPr>
        <p:spPr>
          <a:xfrm>
            <a:off x="548640" y="6620256"/>
            <a:ext cx="10332720" cy="164592"/>
          </a:xfrm>
          <a:prstGeom prst="rect">
            <a:avLst/>
          </a:prstGeom>
          <a:noFill/>
        </p:spPr>
        <p:txBody>
          <a:bodyPr wrap="square" lIns="22860" rIns="22860" tIns="13716" bIns="13716">
            <a:spAutoFit/>
          </a:bodyPr>
          <a:lstStyle/>
          <a:p>
            <a:pPr algn="l">
              <a:spcAft>
                <a:spcPts val="700"/>
              </a:spcAft>
              <a:defRPr sz="900" b="0">
                <a:solidFill>
                  <a:srgbClr val="526477"/>
                </a:solidFill>
                <a:latin typeface="Arial"/>
              </a:defRPr>
            </a:pPr>
            <a:r>
              <a:t>One-joint educational simulation  •  No physical robot trial</a:t>
            </a:r>
          </a:p>
        </p:txBody>
      </p:sp>
      <p:sp>
        <p:nvSpPr>
          <p:cNvPr id="8" name="TextBox 7"/>
          <p:cNvSpPr txBox="1"/>
          <p:nvPr/>
        </p:nvSpPr>
        <p:spPr>
          <a:xfrm>
            <a:off x="11009376" y="6611112"/>
            <a:ext cx="621792" cy="182880"/>
          </a:xfrm>
          <a:prstGeom prst="rect">
            <a:avLst/>
          </a:prstGeom>
          <a:noFill/>
        </p:spPr>
        <p:txBody>
          <a:bodyPr wrap="square" lIns="22860" rIns="22860" tIns="13716" bIns="13716">
            <a:spAutoFit/>
          </a:bodyPr>
          <a:lstStyle/>
          <a:p>
            <a:pPr algn="r">
              <a:spcAft>
                <a:spcPts val="700"/>
              </a:spcAft>
              <a:defRPr sz="1000" b="0">
                <a:solidFill>
                  <a:srgbClr val="526477"/>
                </a:solidFill>
                <a:latin typeface="Arial"/>
              </a:defRPr>
            </a:pPr>
            <a:r>
              <a:t>04 / 6</a:t>
            </a:r>
          </a:p>
        </p:txBody>
      </p:sp>
      <p:pic>
        <p:nvPicPr>
          <p:cNvPr id="9" name="Picture 8" descr="success_for_slides.png"/>
          <p:cNvPicPr>
            <a:picLocks noChangeAspect="1"/>
          </p:cNvPicPr>
          <p:nvPr/>
        </p:nvPicPr>
        <p:blipFill>
          <a:blip r:embed="rId3"/>
          <a:stretch>
            <a:fillRect/>
          </a:stretch>
        </p:blipFill>
        <p:spPr>
          <a:xfrm>
            <a:off x="530352" y="1389888"/>
            <a:ext cx="11109960" cy="4144191"/>
          </a:xfrm>
          <a:prstGeom prst="rect">
            <a:avLst/>
          </a:prstGeom>
        </p:spPr>
      </p:pic>
      <p:sp>
        <p:nvSpPr>
          <p:cNvPr id="10" name="TextBox 9"/>
          <p:cNvSpPr txBox="1"/>
          <p:nvPr/>
        </p:nvSpPr>
        <p:spPr>
          <a:xfrm>
            <a:off x="713232" y="5632704"/>
            <a:ext cx="10817352" cy="365760"/>
          </a:xfrm>
          <a:prstGeom prst="rect">
            <a:avLst/>
          </a:prstGeom>
          <a:noFill/>
        </p:spPr>
        <p:txBody>
          <a:bodyPr wrap="square" lIns="22860" rIns="22860" tIns="13716" bIns="13716">
            <a:spAutoFit/>
          </a:bodyPr>
          <a:lstStyle/>
          <a:p>
            <a:pPr algn="l">
              <a:spcAft>
                <a:spcPts val="700"/>
              </a:spcAft>
              <a:defRPr sz="1700" b="1">
                <a:solidFill>
                  <a:srgbClr val="00746C"/>
                </a:solidFill>
                <a:latin typeface="Arial"/>
              </a:defRPr>
            </a:pPr>
            <a:r>
              <a:t>Held-out mean RMSE: 0.3299 rad fixed → 0.2250 rad randomized. Both reach 100% nominal success.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182880"/>
            <a:ext cx="9784080" cy="228600"/>
          </a:xfrm>
          <a:prstGeom prst="rect">
            <a:avLst/>
          </a:prstGeom>
          <a:noFill/>
        </p:spPr>
        <p:txBody>
          <a:bodyPr wrap="square" lIns="22860" rIns="22860" tIns="13716" bIns="13716">
            <a:spAutoFit/>
          </a:bodyPr>
          <a:lstStyle/>
          <a:p>
            <a:pPr algn="l">
              <a:spcAft>
                <a:spcPts val="700"/>
              </a:spcAft>
              <a:defRPr sz="1100" b="1">
                <a:solidFill>
                  <a:srgbClr val="00746C"/>
                </a:solidFill>
                <a:latin typeface="Arial"/>
              </a:defRPr>
            </a:pPr>
            <a:r>
              <a:t>ENGR 6010  /  AI IN ROBOTICS</a:t>
            </a:r>
          </a:p>
        </p:txBody>
      </p:sp>
      <p:sp>
        <p:nvSpPr>
          <p:cNvPr id="3" name="TextBox 2"/>
          <p:cNvSpPr txBox="1"/>
          <p:nvPr/>
        </p:nvSpPr>
        <p:spPr>
          <a:xfrm>
            <a:off x="530352" y="566928"/>
            <a:ext cx="11109960" cy="630936"/>
          </a:xfrm>
          <a:prstGeom prst="rect">
            <a:avLst/>
          </a:prstGeom>
          <a:noFill/>
        </p:spPr>
        <p:txBody>
          <a:bodyPr wrap="square" lIns="22860" rIns="22860" tIns="13716" bIns="13716">
            <a:spAutoFit/>
          </a:bodyPr>
          <a:lstStyle/>
          <a:p>
            <a:pPr algn="l">
              <a:spcAft>
                <a:spcPts val="700"/>
              </a:spcAft>
              <a:defRPr sz="3000" b="1">
                <a:solidFill>
                  <a:srgbClr val="14283F"/>
                </a:solidFill>
                <a:latin typeface="Arial"/>
              </a:defRPr>
            </a:pPr>
            <a:r>
              <a:t>How does this connect to Reading 5?</a:t>
            </a:r>
          </a:p>
        </p:txBody>
      </p:sp>
      <p:sp>
        <p:nvSpPr>
          <p:cNvPr id="4" name="Rectangle 3"/>
          <p:cNvSpPr/>
          <p:nvPr/>
        </p:nvSpPr>
        <p:spPr>
          <a:xfrm>
            <a:off x="548640" y="1243584"/>
            <a:ext cx="11064240" cy="22860"/>
          </a:xfrm>
          <a:prstGeom prst="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30352" y="6117336"/>
            <a:ext cx="11109960" cy="420624"/>
          </a:xfrm>
          <a:prstGeom prst="roundRect">
            <a:avLst/>
          </a:prstGeom>
          <a:solidFill>
            <a:srgbClr val="E8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6208776"/>
            <a:ext cx="10817352" cy="246888"/>
          </a:xfrm>
          <a:prstGeom prst="rect">
            <a:avLst/>
          </a:prstGeom>
          <a:noFill/>
        </p:spPr>
        <p:txBody>
          <a:bodyPr wrap="square" lIns="22860" rIns="22860" tIns="13716" bIns="13716">
            <a:spAutoFit/>
          </a:bodyPr>
          <a:lstStyle/>
          <a:p>
            <a:pPr algn="l">
              <a:spcAft>
                <a:spcPts val="700"/>
              </a:spcAft>
              <a:defRPr sz="1400" b="0">
                <a:solidFill>
                  <a:srgbClr val="00746C"/>
                </a:solidFill>
                <a:latin typeface="Arial"/>
              </a:defRPr>
            </a:pPr>
            <a:r>
              <a:t>SAY  “The readings connect randomized simulation, policy learning, and the gap between a model and a robot.”</a:t>
            </a:r>
          </a:p>
        </p:txBody>
      </p:sp>
      <p:sp>
        <p:nvSpPr>
          <p:cNvPr id="7" name="TextBox 6"/>
          <p:cNvSpPr txBox="1"/>
          <p:nvPr/>
        </p:nvSpPr>
        <p:spPr>
          <a:xfrm>
            <a:off x="548640" y="6620256"/>
            <a:ext cx="10332720" cy="164592"/>
          </a:xfrm>
          <a:prstGeom prst="rect">
            <a:avLst/>
          </a:prstGeom>
          <a:noFill/>
        </p:spPr>
        <p:txBody>
          <a:bodyPr wrap="square" lIns="22860" rIns="22860" tIns="13716" bIns="13716">
            <a:spAutoFit/>
          </a:bodyPr>
          <a:lstStyle/>
          <a:p>
            <a:pPr algn="l">
              <a:spcAft>
                <a:spcPts val="700"/>
              </a:spcAft>
              <a:defRPr sz="900" b="0">
                <a:solidFill>
                  <a:srgbClr val="526477"/>
                </a:solidFill>
                <a:latin typeface="Arial"/>
              </a:defRPr>
            </a:pPr>
            <a:r>
              <a:t>One-joint educational simulation  •  No physical robot trial</a:t>
            </a:r>
          </a:p>
        </p:txBody>
      </p:sp>
      <p:sp>
        <p:nvSpPr>
          <p:cNvPr id="8" name="TextBox 7"/>
          <p:cNvSpPr txBox="1"/>
          <p:nvPr/>
        </p:nvSpPr>
        <p:spPr>
          <a:xfrm>
            <a:off x="11009376" y="6611112"/>
            <a:ext cx="621792" cy="182880"/>
          </a:xfrm>
          <a:prstGeom prst="rect">
            <a:avLst/>
          </a:prstGeom>
          <a:noFill/>
        </p:spPr>
        <p:txBody>
          <a:bodyPr wrap="square" lIns="22860" rIns="22860" tIns="13716" bIns="13716">
            <a:spAutoFit/>
          </a:bodyPr>
          <a:lstStyle/>
          <a:p>
            <a:pPr algn="r">
              <a:spcAft>
                <a:spcPts val="700"/>
              </a:spcAft>
              <a:defRPr sz="1000" b="0">
                <a:solidFill>
                  <a:srgbClr val="526477"/>
                </a:solidFill>
                <a:latin typeface="Arial"/>
              </a:defRPr>
            </a:pPr>
            <a:r>
              <a:t>05 / 6</a:t>
            </a:r>
          </a:p>
        </p:txBody>
      </p:sp>
      <p:sp>
        <p:nvSpPr>
          <p:cNvPr id="9" name="Rounded Rectangle 8"/>
          <p:cNvSpPr/>
          <p:nvPr/>
        </p:nvSpPr>
        <p:spPr>
          <a:xfrm>
            <a:off x="713232" y="1609344"/>
            <a:ext cx="5212080" cy="1810512"/>
          </a:xfrm>
          <a:prstGeom prst="roundRect">
            <a:avLst/>
          </a:prstGeom>
          <a:solidFill>
            <a:srgbClr val="F0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609344"/>
            <a:ext cx="64008" cy="1810512"/>
          </a:xfrm>
          <a:prstGeom prst="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764792"/>
            <a:ext cx="4846320" cy="502920"/>
          </a:xfrm>
          <a:prstGeom prst="rect">
            <a:avLst/>
          </a:prstGeom>
          <a:noFill/>
        </p:spPr>
        <p:txBody>
          <a:bodyPr wrap="square" lIns="22860" rIns="22860" tIns="13716" bIns="13716">
            <a:spAutoFit/>
          </a:bodyPr>
          <a:lstStyle/>
          <a:p>
            <a:pPr algn="l">
              <a:spcAft>
                <a:spcPts val="700"/>
              </a:spcAft>
              <a:defRPr sz="2000" b="1">
                <a:solidFill>
                  <a:srgbClr val="00746C"/>
                </a:solidFill>
                <a:latin typeface="Arial"/>
              </a:defRPr>
            </a:pPr>
            <a:r>
              <a:t>TAN ET AL. (2018)</a:t>
            </a:r>
          </a:p>
        </p:txBody>
      </p:sp>
      <p:sp>
        <p:nvSpPr>
          <p:cNvPr id="12" name="TextBox 11"/>
          <p:cNvSpPr txBox="1"/>
          <p:nvPr/>
        </p:nvSpPr>
        <p:spPr>
          <a:xfrm>
            <a:off x="896112" y="2386584"/>
            <a:ext cx="4846320" cy="941832"/>
          </a:xfrm>
          <a:prstGeom prst="rect">
            <a:avLst/>
          </a:prstGeom>
          <a:noFill/>
        </p:spPr>
        <p:txBody>
          <a:bodyPr wrap="square" lIns="22860" rIns="22860" tIns="13716" bIns="13716">
            <a:spAutoFit/>
          </a:bodyPr>
          <a:lstStyle/>
          <a:p>
            <a:pPr algn="l">
              <a:spcAft>
                <a:spcPts val="700"/>
              </a:spcAft>
              <a:defRPr sz="1900" b="0">
                <a:solidFill>
                  <a:srgbClr val="14283F"/>
                </a:solidFill>
                <a:latin typeface="Arial"/>
              </a:defRPr>
            </a:pPr>
            <a:r>
              <a:t>Learned control, actuation, and</a:t>
            </a:r>
          </a:p>
          <a:p>
            <a:pPr algn="l">
              <a:spcAft>
                <a:spcPts val="700"/>
              </a:spcAft>
              <a:defRPr sz="1900" b="0">
                <a:solidFill>
                  <a:srgbClr val="14283F"/>
                </a:solidFill>
                <a:latin typeface="Arial"/>
              </a:defRPr>
            </a:pPr>
            <a:r>
              <a:t>randomized simulation physics.</a:t>
            </a:r>
          </a:p>
        </p:txBody>
      </p:sp>
      <p:sp>
        <p:nvSpPr>
          <p:cNvPr id="13" name="Rounded Rectangle 12"/>
          <p:cNvSpPr/>
          <p:nvPr/>
        </p:nvSpPr>
        <p:spPr>
          <a:xfrm>
            <a:off x="6254496" y="1609344"/>
            <a:ext cx="5212080" cy="1810512"/>
          </a:xfrm>
          <a:prstGeom prst="roundRect">
            <a:avLst/>
          </a:prstGeom>
          <a:solidFill>
            <a:srgbClr val="F0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54496" y="1609344"/>
            <a:ext cx="64008" cy="1810512"/>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7376" y="1764792"/>
            <a:ext cx="4846320" cy="502920"/>
          </a:xfrm>
          <a:prstGeom prst="rect">
            <a:avLst/>
          </a:prstGeom>
          <a:noFill/>
        </p:spPr>
        <p:txBody>
          <a:bodyPr wrap="square" lIns="22860" rIns="22860" tIns="13716" bIns="13716">
            <a:spAutoFit/>
          </a:bodyPr>
          <a:lstStyle/>
          <a:p>
            <a:pPr algn="l">
              <a:spcAft>
                <a:spcPts val="700"/>
              </a:spcAft>
              <a:defRPr sz="2000" b="1">
                <a:solidFill>
                  <a:srgbClr val="0072B2"/>
                </a:solidFill>
                <a:latin typeface="Arial"/>
              </a:defRPr>
            </a:pPr>
            <a:r>
              <a:t>ZHAO ET AL. · SURVEY</a:t>
            </a:r>
          </a:p>
        </p:txBody>
      </p:sp>
      <p:sp>
        <p:nvSpPr>
          <p:cNvPr id="16" name="TextBox 15"/>
          <p:cNvSpPr txBox="1"/>
          <p:nvPr/>
        </p:nvSpPr>
        <p:spPr>
          <a:xfrm>
            <a:off x="6437376" y="2386584"/>
            <a:ext cx="4846320" cy="941832"/>
          </a:xfrm>
          <a:prstGeom prst="rect">
            <a:avLst/>
          </a:prstGeom>
          <a:noFill/>
        </p:spPr>
        <p:txBody>
          <a:bodyPr wrap="square" lIns="22860" rIns="22860" tIns="13716" bIns="13716">
            <a:spAutoFit/>
          </a:bodyPr>
          <a:lstStyle/>
          <a:p>
            <a:pPr algn="l">
              <a:spcAft>
                <a:spcPts val="700"/>
              </a:spcAft>
              <a:defRPr sz="1900" b="0">
                <a:solidFill>
                  <a:srgbClr val="14283F"/>
                </a:solidFill>
                <a:latin typeface="Arial"/>
              </a:defRPr>
            </a:pPr>
            <a:r>
              <a:t>The reality gap: simulation and</a:t>
            </a:r>
          </a:p>
          <a:p>
            <a:pPr algn="l">
              <a:spcAft>
                <a:spcPts val="700"/>
              </a:spcAft>
              <a:defRPr sz="1900" b="0">
                <a:solidFill>
                  <a:srgbClr val="14283F"/>
                </a:solidFill>
                <a:latin typeface="Arial"/>
              </a:defRPr>
            </a:pPr>
            <a:r>
              <a:t>real hardware behave differently.</a:t>
            </a:r>
          </a:p>
        </p:txBody>
      </p:sp>
      <p:sp>
        <p:nvSpPr>
          <p:cNvPr id="17" name="Rounded Rectangle 16"/>
          <p:cNvSpPr/>
          <p:nvPr/>
        </p:nvSpPr>
        <p:spPr>
          <a:xfrm>
            <a:off x="713232" y="3730752"/>
            <a:ext cx="5212080" cy="1810512"/>
          </a:xfrm>
          <a:prstGeom prst="roundRect">
            <a:avLst/>
          </a:prstGeom>
          <a:solidFill>
            <a:srgbClr val="F0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3232" y="3730752"/>
            <a:ext cx="64008" cy="1810512"/>
          </a:xfrm>
          <a:prstGeom prst="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3886200"/>
            <a:ext cx="4846320" cy="502920"/>
          </a:xfrm>
          <a:prstGeom prst="rect">
            <a:avLst/>
          </a:prstGeom>
          <a:noFill/>
        </p:spPr>
        <p:txBody>
          <a:bodyPr wrap="square" lIns="22860" rIns="22860" tIns="13716" bIns="13716">
            <a:spAutoFit/>
          </a:bodyPr>
          <a:lstStyle/>
          <a:p>
            <a:pPr algn="l">
              <a:spcAft>
                <a:spcPts val="700"/>
              </a:spcAft>
              <a:defRPr sz="2000" b="1">
                <a:solidFill>
                  <a:srgbClr val="00746C"/>
                </a:solidFill>
                <a:latin typeface="Arial"/>
              </a:defRPr>
            </a:pPr>
            <a:r>
              <a:t>SUTTON &amp; BARTO · CH. 13</a:t>
            </a:r>
          </a:p>
        </p:txBody>
      </p:sp>
      <p:sp>
        <p:nvSpPr>
          <p:cNvPr id="20" name="TextBox 19"/>
          <p:cNvSpPr txBox="1"/>
          <p:nvPr/>
        </p:nvSpPr>
        <p:spPr>
          <a:xfrm>
            <a:off x="896112" y="4507992"/>
            <a:ext cx="4846320" cy="941832"/>
          </a:xfrm>
          <a:prstGeom prst="rect">
            <a:avLst/>
          </a:prstGeom>
          <a:noFill/>
        </p:spPr>
        <p:txBody>
          <a:bodyPr wrap="square" lIns="22860" rIns="22860" tIns="13716" bIns="13716">
            <a:spAutoFit/>
          </a:bodyPr>
          <a:lstStyle/>
          <a:p>
            <a:pPr algn="l">
              <a:spcAft>
                <a:spcPts val="700"/>
              </a:spcAft>
              <a:defRPr sz="1900" b="0">
                <a:solidFill>
                  <a:srgbClr val="14283F"/>
                </a:solidFill>
                <a:latin typeface="Arial"/>
              </a:defRPr>
            </a:pPr>
            <a:r>
              <a:t>Policy gradients are the foundation.</a:t>
            </a:r>
          </a:p>
          <a:p>
            <a:pPr algn="l">
              <a:spcAft>
                <a:spcPts val="700"/>
              </a:spcAft>
              <a:defRPr sz="1900" b="0">
                <a:solidFill>
                  <a:srgbClr val="14283F"/>
                </a:solidFill>
                <a:latin typeface="Arial"/>
              </a:defRPr>
            </a:pPr>
            <a:r>
              <a:t>PPO: a clipped actor–critic method.</a:t>
            </a:r>
          </a:p>
        </p:txBody>
      </p:sp>
      <p:sp>
        <p:nvSpPr>
          <p:cNvPr id="21" name="Rounded Rectangle 20"/>
          <p:cNvSpPr/>
          <p:nvPr/>
        </p:nvSpPr>
        <p:spPr>
          <a:xfrm>
            <a:off x="6254496" y="3730752"/>
            <a:ext cx="5212080" cy="1810512"/>
          </a:xfrm>
          <a:prstGeom prst="roundRect">
            <a:avLst/>
          </a:prstGeom>
          <a:solidFill>
            <a:srgbClr val="F0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54496" y="3730752"/>
            <a:ext cx="64008" cy="1810512"/>
          </a:xfrm>
          <a:prstGeom prst="rect">
            <a:avLst/>
          </a:prstGeom>
          <a:solidFill>
            <a:srgbClr val="C659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886200"/>
            <a:ext cx="4846320" cy="502920"/>
          </a:xfrm>
          <a:prstGeom prst="rect">
            <a:avLst/>
          </a:prstGeom>
          <a:noFill/>
        </p:spPr>
        <p:txBody>
          <a:bodyPr wrap="square" lIns="22860" rIns="22860" tIns="13716" bIns="13716">
            <a:spAutoFit/>
          </a:bodyPr>
          <a:lstStyle/>
          <a:p>
            <a:pPr algn="l">
              <a:spcAft>
                <a:spcPts val="700"/>
              </a:spcAft>
              <a:defRPr sz="2000" b="1">
                <a:solidFill>
                  <a:srgbClr val="C65924"/>
                </a:solidFill>
                <a:latin typeface="Arial"/>
              </a:defRPr>
            </a:pPr>
            <a:r>
              <a:t>MUJOCO</a:t>
            </a:r>
          </a:p>
        </p:txBody>
      </p:sp>
      <p:sp>
        <p:nvSpPr>
          <p:cNvPr id="24" name="TextBox 23"/>
          <p:cNvSpPr txBox="1"/>
          <p:nvPr/>
        </p:nvSpPr>
        <p:spPr>
          <a:xfrm>
            <a:off x="6437376" y="4507992"/>
            <a:ext cx="4846320" cy="941832"/>
          </a:xfrm>
          <a:prstGeom prst="rect">
            <a:avLst/>
          </a:prstGeom>
          <a:noFill/>
        </p:spPr>
        <p:txBody>
          <a:bodyPr wrap="square" lIns="22860" rIns="22860" tIns="13716" bIns="13716">
            <a:spAutoFit/>
          </a:bodyPr>
          <a:lstStyle/>
          <a:p>
            <a:pPr algn="l">
              <a:spcAft>
                <a:spcPts val="700"/>
              </a:spcAft>
              <a:defRPr sz="1900" b="0">
                <a:solidFill>
                  <a:srgbClr val="14283F"/>
                </a:solidFill>
                <a:latin typeface="Arial"/>
              </a:defRPr>
            </a:pPr>
            <a:r>
              <a:t>Richer multibody and contact physics.</a:t>
            </a:r>
          </a:p>
          <a:p>
            <a:pPr algn="l">
              <a:spcAft>
                <a:spcPts val="700"/>
              </a:spcAft>
              <a:defRPr sz="1900" b="0">
                <a:solidFill>
                  <a:srgbClr val="14283F"/>
                </a:solidFill>
                <a:latin typeface="Arial"/>
              </a:defRPr>
            </a:pPr>
            <a:r>
              <a:t>This example uses a simpler joint model.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83F"/>
        </a:solidFill>
        <a:effectLst/>
      </p:bgPr>
    </p:bg>
    <p:spTree>
      <p:nvGrpSpPr>
        <p:cNvPr id="1" name=""/>
        <p:cNvGrpSpPr/>
        <p:nvPr/>
      </p:nvGrpSpPr>
      <p:grpSpPr/>
      <p:sp>
        <p:nvSpPr>
          <p:cNvPr id="2" name="TextBox 1"/>
          <p:cNvSpPr txBox="1"/>
          <p:nvPr/>
        </p:nvSpPr>
        <p:spPr>
          <a:xfrm>
            <a:off x="530352" y="182880"/>
            <a:ext cx="9784080" cy="228600"/>
          </a:xfrm>
          <a:prstGeom prst="rect">
            <a:avLst/>
          </a:prstGeom>
          <a:noFill/>
        </p:spPr>
        <p:txBody>
          <a:bodyPr wrap="square" lIns="22860" rIns="22860" tIns="13716" bIns="13716">
            <a:spAutoFit/>
          </a:bodyPr>
          <a:lstStyle/>
          <a:p>
            <a:pPr algn="l">
              <a:spcAft>
                <a:spcPts val="700"/>
              </a:spcAft>
              <a:defRPr sz="1100" b="1">
                <a:solidFill>
                  <a:srgbClr val="93D9D3"/>
                </a:solidFill>
                <a:latin typeface="Arial"/>
              </a:defRPr>
            </a:pPr>
            <a:r>
              <a:t>ENGR 6010  /  AI IN ROBOTICS</a:t>
            </a:r>
          </a:p>
        </p:txBody>
      </p:sp>
      <p:sp>
        <p:nvSpPr>
          <p:cNvPr id="3" name="TextBox 2"/>
          <p:cNvSpPr txBox="1"/>
          <p:nvPr/>
        </p:nvSpPr>
        <p:spPr>
          <a:xfrm>
            <a:off x="530352" y="566928"/>
            <a:ext cx="11109960" cy="630936"/>
          </a:xfrm>
          <a:prstGeom prst="rect">
            <a:avLst/>
          </a:prstGeom>
          <a:noFill/>
        </p:spPr>
        <p:txBody>
          <a:bodyPr wrap="square" lIns="22860" rIns="22860" tIns="13716" bIns="13716">
            <a:spAutoFit/>
          </a:bodyPr>
          <a:lstStyle/>
          <a:p>
            <a:pPr algn="l">
              <a:spcAft>
                <a:spcPts val="700"/>
              </a:spcAft>
              <a:defRPr sz="3000" b="1">
                <a:solidFill>
                  <a:srgbClr val="FFFFFF"/>
                </a:solidFill>
                <a:latin typeface="Arial"/>
              </a:defRPr>
            </a:pPr>
            <a:r>
              <a:t>A real robotics application and the takeaway</a:t>
            </a:r>
          </a:p>
        </p:txBody>
      </p:sp>
      <p:sp>
        <p:nvSpPr>
          <p:cNvPr id="4" name="Rectangle 3"/>
          <p:cNvSpPr/>
          <p:nvPr/>
        </p:nvSpPr>
        <p:spPr>
          <a:xfrm>
            <a:off x="548640" y="1243584"/>
            <a:ext cx="11064240" cy="22860"/>
          </a:xfrm>
          <a:prstGeom prst="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30352" y="6117336"/>
            <a:ext cx="11109960" cy="420624"/>
          </a:xfrm>
          <a:prstGeom prst="roundRect">
            <a:avLst/>
          </a:prstGeom>
          <a:solidFill>
            <a:srgbClr val="0074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6208776"/>
            <a:ext cx="10817352" cy="246888"/>
          </a:xfrm>
          <a:prstGeom prst="rect">
            <a:avLst/>
          </a:prstGeom>
          <a:noFill/>
        </p:spPr>
        <p:txBody>
          <a:bodyPr wrap="square" lIns="22860" rIns="22860" tIns="13716" bIns="13716">
            <a:spAutoFit/>
          </a:bodyPr>
          <a:lstStyle/>
          <a:p>
            <a:pPr algn="l">
              <a:spcAft>
                <a:spcPts val="700"/>
              </a:spcAft>
              <a:defRPr sz="1400" b="0">
                <a:solidFill>
                  <a:srgbClr val="FFFFFF"/>
                </a:solidFill>
                <a:latin typeface="Arial"/>
              </a:defRPr>
            </a:pPr>
            <a:r>
              <a:t>SAY  “Training across plausible variation may help controllers tolerate changing loads, friction, and actuator delays.”</a:t>
            </a:r>
          </a:p>
        </p:txBody>
      </p:sp>
      <p:sp>
        <p:nvSpPr>
          <p:cNvPr id="7" name="TextBox 6"/>
          <p:cNvSpPr txBox="1"/>
          <p:nvPr/>
        </p:nvSpPr>
        <p:spPr>
          <a:xfrm>
            <a:off x="548640" y="6620256"/>
            <a:ext cx="10332720" cy="164592"/>
          </a:xfrm>
          <a:prstGeom prst="rect">
            <a:avLst/>
          </a:prstGeom>
          <a:noFill/>
        </p:spPr>
        <p:txBody>
          <a:bodyPr wrap="square" lIns="22860" rIns="22860" tIns="13716" bIns="13716">
            <a:spAutoFit/>
          </a:bodyPr>
          <a:lstStyle/>
          <a:p>
            <a:pPr algn="l">
              <a:spcAft>
                <a:spcPts val="700"/>
              </a:spcAft>
              <a:defRPr sz="900" b="0">
                <a:solidFill>
                  <a:srgbClr val="BED1DD"/>
                </a:solidFill>
                <a:latin typeface="Arial"/>
              </a:defRPr>
            </a:pPr>
            <a:r>
              <a:t>One-joint educational simulation  •  No physical robot trial</a:t>
            </a:r>
          </a:p>
        </p:txBody>
      </p:sp>
      <p:sp>
        <p:nvSpPr>
          <p:cNvPr id="8" name="TextBox 7"/>
          <p:cNvSpPr txBox="1"/>
          <p:nvPr/>
        </p:nvSpPr>
        <p:spPr>
          <a:xfrm>
            <a:off x="11009376" y="6611112"/>
            <a:ext cx="621792" cy="182880"/>
          </a:xfrm>
          <a:prstGeom prst="rect">
            <a:avLst/>
          </a:prstGeom>
          <a:noFill/>
        </p:spPr>
        <p:txBody>
          <a:bodyPr wrap="square" lIns="22860" rIns="22860" tIns="13716" bIns="13716">
            <a:spAutoFit/>
          </a:bodyPr>
          <a:lstStyle/>
          <a:p>
            <a:pPr algn="r">
              <a:spcAft>
                <a:spcPts val="700"/>
              </a:spcAft>
              <a:defRPr sz="1000" b="0">
                <a:solidFill>
                  <a:srgbClr val="BED1DD"/>
                </a:solidFill>
                <a:latin typeface="Arial"/>
              </a:defRPr>
            </a:pPr>
            <a:r>
              <a:t>06 / 6</a:t>
            </a:r>
          </a:p>
        </p:txBody>
      </p:sp>
      <p:sp>
        <p:nvSpPr>
          <p:cNvPr id="9" name="TextBox 8"/>
          <p:cNvSpPr txBox="1"/>
          <p:nvPr/>
        </p:nvSpPr>
        <p:spPr>
          <a:xfrm>
            <a:off x="731520" y="1636776"/>
            <a:ext cx="10698480" cy="1197864"/>
          </a:xfrm>
          <a:prstGeom prst="rect">
            <a:avLst/>
          </a:prstGeom>
          <a:noFill/>
        </p:spPr>
        <p:txBody>
          <a:bodyPr wrap="square" lIns="22860" rIns="22860" tIns="13716" bIns="13716">
            <a:spAutoFit/>
          </a:bodyPr>
          <a:lstStyle/>
          <a:p>
            <a:pPr algn="l">
              <a:spcAft>
                <a:spcPts val="700"/>
              </a:spcAft>
              <a:defRPr sz="2900" b="1">
                <a:solidFill>
                  <a:srgbClr val="FFFFFF"/>
                </a:solidFill>
                <a:latin typeface="Arial"/>
              </a:defRPr>
            </a:pPr>
            <a:r>
              <a:t>Application: a quadruped joint must track commands</a:t>
            </a:r>
          </a:p>
          <a:p>
            <a:pPr algn="l">
              <a:spcAft>
                <a:spcPts val="700"/>
              </a:spcAft>
              <a:defRPr sz="2900" b="1">
                <a:solidFill>
                  <a:srgbClr val="FFFFFF"/>
                </a:solidFill>
                <a:latin typeface="Arial"/>
              </a:defRPr>
            </a:pPr>
            <a:r>
              <a:t>as its payload, friction, and communication delay change.</a:t>
            </a:r>
          </a:p>
        </p:txBody>
      </p:sp>
      <p:sp>
        <p:nvSpPr>
          <p:cNvPr id="10" name="Rounded Rectangle 9"/>
          <p:cNvSpPr/>
          <p:nvPr/>
        </p:nvSpPr>
        <p:spPr>
          <a:xfrm>
            <a:off x="758952" y="3163824"/>
            <a:ext cx="3355848" cy="1252728"/>
          </a:xfrm>
          <a:prstGeom prst="roundRect">
            <a:avLst/>
          </a:prstGeom>
          <a:solidFill>
            <a:srgbClr val="203B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355848"/>
            <a:ext cx="3035808" cy="292608"/>
          </a:xfrm>
          <a:prstGeom prst="rect">
            <a:avLst/>
          </a:prstGeom>
          <a:noFill/>
        </p:spPr>
        <p:txBody>
          <a:bodyPr wrap="square" lIns="22860" rIns="22860" tIns="13716" bIns="13716">
            <a:spAutoFit/>
          </a:bodyPr>
          <a:lstStyle/>
          <a:p>
            <a:pPr algn="l">
              <a:spcAft>
                <a:spcPts val="700"/>
              </a:spcAft>
              <a:defRPr sz="2000" b="1">
                <a:solidFill>
                  <a:srgbClr val="93D9D3"/>
                </a:solidFill>
                <a:latin typeface="Arial"/>
              </a:defRPr>
            </a:pPr>
            <a:r>
              <a:t>PAYLOAD</a:t>
            </a:r>
          </a:p>
        </p:txBody>
      </p:sp>
      <p:sp>
        <p:nvSpPr>
          <p:cNvPr id="12" name="TextBox 11"/>
          <p:cNvSpPr txBox="1"/>
          <p:nvPr/>
        </p:nvSpPr>
        <p:spPr>
          <a:xfrm>
            <a:off x="914400" y="3803904"/>
            <a:ext cx="3035808" cy="365760"/>
          </a:xfrm>
          <a:prstGeom prst="rect">
            <a:avLst/>
          </a:prstGeom>
          <a:noFill/>
        </p:spPr>
        <p:txBody>
          <a:bodyPr wrap="square" lIns="22860" rIns="22860" tIns="13716" bIns="13716">
            <a:spAutoFit/>
          </a:bodyPr>
          <a:lstStyle/>
          <a:p>
            <a:pPr algn="l">
              <a:spcAft>
                <a:spcPts val="700"/>
              </a:spcAft>
              <a:defRPr sz="1800" b="0">
                <a:solidFill>
                  <a:srgbClr val="FFFFFF"/>
                </a:solidFill>
                <a:latin typeface="Arial"/>
              </a:defRPr>
            </a:pPr>
            <a:r>
              <a:t>Changes joint inertia</a:t>
            </a:r>
          </a:p>
        </p:txBody>
      </p:sp>
      <p:sp>
        <p:nvSpPr>
          <p:cNvPr id="13" name="Rounded Rectangle 12"/>
          <p:cNvSpPr/>
          <p:nvPr/>
        </p:nvSpPr>
        <p:spPr>
          <a:xfrm>
            <a:off x="4416552" y="3163824"/>
            <a:ext cx="3355848" cy="1252728"/>
          </a:xfrm>
          <a:prstGeom prst="roundRect">
            <a:avLst/>
          </a:prstGeom>
          <a:solidFill>
            <a:srgbClr val="203B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355848"/>
            <a:ext cx="3035808" cy="292608"/>
          </a:xfrm>
          <a:prstGeom prst="rect">
            <a:avLst/>
          </a:prstGeom>
          <a:noFill/>
        </p:spPr>
        <p:txBody>
          <a:bodyPr wrap="square" lIns="22860" rIns="22860" tIns="13716" bIns="13716">
            <a:spAutoFit/>
          </a:bodyPr>
          <a:lstStyle/>
          <a:p>
            <a:pPr algn="l">
              <a:spcAft>
                <a:spcPts val="700"/>
              </a:spcAft>
              <a:defRPr sz="2000" b="1">
                <a:solidFill>
                  <a:srgbClr val="93D9D3"/>
                </a:solidFill>
                <a:latin typeface="Arial"/>
              </a:defRPr>
            </a:pPr>
            <a:r>
              <a:t>WEAR</a:t>
            </a:r>
          </a:p>
        </p:txBody>
      </p:sp>
      <p:sp>
        <p:nvSpPr>
          <p:cNvPr id="15" name="TextBox 14"/>
          <p:cNvSpPr txBox="1"/>
          <p:nvPr/>
        </p:nvSpPr>
        <p:spPr>
          <a:xfrm>
            <a:off x="4572000" y="3803904"/>
            <a:ext cx="3035808" cy="365760"/>
          </a:xfrm>
          <a:prstGeom prst="rect">
            <a:avLst/>
          </a:prstGeom>
          <a:noFill/>
        </p:spPr>
        <p:txBody>
          <a:bodyPr wrap="square" lIns="22860" rIns="22860" tIns="13716" bIns="13716">
            <a:spAutoFit/>
          </a:bodyPr>
          <a:lstStyle/>
          <a:p>
            <a:pPr algn="l">
              <a:spcAft>
                <a:spcPts val="700"/>
              </a:spcAft>
              <a:defRPr sz="1800" b="0">
                <a:solidFill>
                  <a:srgbClr val="FFFFFF"/>
                </a:solidFill>
                <a:latin typeface="Arial"/>
              </a:defRPr>
            </a:pPr>
            <a:r>
              <a:t>Changes friction</a:t>
            </a:r>
          </a:p>
        </p:txBody>
      </p:sp>
      <p:sp>
        <p:nvSpPr>
          <p:cNvPr id="16" name="Rounded Rectangle 15"/>
          <p:cNvSpPr/>
          <p:nvPr/>
        </p:nvSpPr>
        <p:spPr>
          <a:xfrm>
            <a:off x="8074152" y="3163824"/>
            <a:ext cx="3355848" cy="1252728"/>
          </a:xfrm>
          <a:prstGeom prst="roundRect">
            <a:avLst/>
          </a:prstGeom>
          <a:solidFill>
            <a:srgbClr val="203B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3355848"/>
            <a:ext cx="3035808" cy="292608"/>
          </a:xfrm>
          <a:prstGeom prst="rect">
            <a:avLst/>
          </a:prstGeom>
          <a:noFill/>
        </p:spPr>
        <p:txBody>
          <a:bodyPr wrap="square" lIns="22860" rIns="22860" tIns="13716" bIns="13716">
            <a:spAutoFit/>
          </a:bodyPr>
          <a:lstStyle/>
          <a:p>
            <a:pPr algn="l">
              <a:spcAft>
                <a:spcPts val="700"/>
              </a:spcAft>
              <a:defRPr sz="2000" b="1">
                <a:solidFill>
                  <a:srgbClr val="93D9D3"/>
                </a:solidFill>
                <a:latin typeface="Arial"/>
              </a:defRPr>
            </a:pPr>
            <a:r>
              <a:t>ACTUATION</a:t>
            </a:r>
          </a:p>
        </p:txBody>
      </p:sp>
      <p:sp>
        <p:nvSpPr>
          <p:cNvPr id="18" name="TextBox 17"/>
          <p:cNvSpPr txBox="1"/>
          <p:nvPr/>
        </p:nvSpPr>
        <p:spPr>
          <a:xfrm>
            <a:off x="8229600" y="3803904"/>
            <a:ext cx="3035808" cy="365760"/>
          </a:xfrm>
          <a:prstGeom prst="rect">
            <a:avLst/>
          </a:prstGeom>
          <a:noFill/>
        </p:spPr>
        <p:txBody>
          <a:bodyPr wrap="square" lIns="22860" rIns="22860" tIns="13716" bIns="13716">
            <a:spAutoFit/>
          </a:bodyPr>
          <a:lstStyle/>
          <a:p>
            <a:pPr algn="l">
              <a:spcAft>
                <a:spcPts val="700"/>
              </a:spcAft>
              <a:defRPr sz="1800" b="0">
                <a:solidFill>
                  <a:srgbClr val="FFFFFF"/>
                </a:solidFill>
                <a:latin typeface="Arial"/>
              </a:defRPr>
            </a:pPr>
            <a:r>
              <a:t>Introduces command delay</a:t>
            </a:r>
          </a:p>
        </p:txBody>
      </p:sp>
      <p:sp>
        <p:nvSpPr>
          <p:cNvPr id="19" name="TextBox 18"/>
          <p:cNvSpPr txBox="1"/>
          <p:nvPr/>
        </p:nvSpPr>
        <p:spPr>
          <a:xfrm>
            <a:off x="786384" y="4800600"/>
            <a:ext cx="10607040" cy="566928"/>
          </a:xfrm>
          <a:prstGeom prst="rect">
            <a:avLst/>
          </a:prstGeom>
          <a:noFill/>
        </p:spPr>
        <p:txBody>
          <a:bodyPr wrap="square" lIns="22860" rIns="22860" tIns="13716" bIns="13716">
            <a:spAutoFit/>
          </a:bodyPr>
          <a:lstStyle/>
          <a:p>
            <a:pPr algn="l">
              <a:spcAft>
                <a:spcPts val="700"/>
              </a:spcAft>
              <a:defRPr sz="2600" b="1">
                <a:solidFill>
                  <a:srgbClr val="FFFFFF"/>
                </a:solidFill>
                <a:latin typeface="Arial"/>
              </a:defRPr>
            </a:pPr>
            <a:r>
              <a:t>This run: randomized training improved held-out tracking and success.</a:t>
            </a:r>
          </a:p>
        </p:txBody>
      </p:sp>
      <p:sp>
        <p:nvSpPr>
          <p:cNvPr id="20" name="TextBox 19"/>
          <p:cNvSpPr txBox="1"/>
          <p:nvPr/>
        </p:nvSpPr>
        <p:spPr>
          <a:xfrm>
            <a:off x="786384" y="5614416"/>
            <a:ext cx="10607040" cy="301752"/>
          </a:xfrm>
          <a:prstGeom prst="rect">
            <a:avLst/>
          </a:prstGeom>
          <a:noFill/>
        </p:spPr>
        <p:txBody>
          <a:bodyPr wrap="square" lIns="22860" rIns="22860" tIns="13716" bIns="13716">
            <a:spAutoFit/>
          </a:bodyPr>
          <a:lstStyle/>
          <a:p>
            <a:pPr algn="l">
              <a:spcAft>
                <a:spcPts val="700"/>
              </a:spcAft>
              <a:defRPr sz="1800" b="0">
                <a:solidFill>
                  <a:srgbClr val="BED1DD"/>
                </a:solidFill>
                <a:latin typeface="Arial"/>
              </a:defRPr>
            </a:pPr>
            <a:r>
              <a:t>Go2 / ANYmal inspiration • one joint • one training seed • simulation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Reading 5: A Short Sim-to-Real PPO Demonstration</dc:title>
  <dc:subject/>
  <dc:creator>ENGR 6010 student presenter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