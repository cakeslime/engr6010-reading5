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Can varied training physics improve transfer?</a:t>
            </a:r>
          </a:p>
          <a:p>
            <a:r>
              <a:t>Suggested time: 40 seconds</a:t>
            </a:r>
          </a:p>
          <a:p/>
          <a:p>
            <a:r>
              <a:t>READ-ALOUD SCRIPT</a:t>
            </a:r>
          </a:p>
          <a:p>
            <a:r>
              <a:t>For my Reading 5 project, I investigated a practical question: can a learned controller become more robust when its training simulation changes from episode to episode? I built a one-degree-of-freedom joint inspired by the control problems inside quadrupedal robots such as Go2 and ANYmal. Two PPO policies choose target angles for the same PD controller. One trains with fixed physics, and the other trains with randomized physics. I then compare them under nominal and unfamiliar simulated conditions. This is an educational simulation study, not a physical robot experiment.</a:t>
            </a:r>
          </a:p>
          <a:p/>
          <a:p>
            <a:r>
              <a:t>POINT TO / DO</a:t>
            </a:r>
          </a:p>
          <a:p>
            <a:r>
              <a:t>Point to the project question, then the fixed-versus-randomized comparison.</a:t>
            </a:r>
          </a:p>
          <a:p/>
          <a:p>
            <a:r>
              <a:t>TRANSITION</a:t>
            </a:r>
          </a:p>
          <a:p>
            <a:r>
              <a:t>First, I will connect that question to the mechanical, electrical, and control systems in a robot.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Why this is a mechatronics problem</a:t>
            </a:r>
          </a:p>
          <a:p>
            <a:r>
              <a:t>Suggested time: 45 seconds</a:t>
            </a:r>
          </a:p>
          <a:p/>
          <a:p>
            <a:r>
              <a:t>READ-ALOUD SCRIPT</a:t>
            </a:r>
          </a:p>
          <a:p>
            <a:r>
              <a:t>As a mechatronics student, I see the reality gap as an interaction between the mechanical plant, actuator behavior, sensing, and software. A heavier effective joint responds differently to torque. Friction changes damping, actuator latency delays corrections, and measurement noise distorts feedback. A policy trained against only one ideal combination can depend too strongly on that combination. My simplified model makes these effects visible without needing a complete walking robot. The engineering motivation is to develop a controller that tolerates uncertainty, while being honest about which physical effects the demonstration leaves out.</a:t>
            </a:r>
          </a:p>
          <a:p/>
          <a:p>
            <a:r>
              <a:t>POINT TO / DO</a:t>
            </a:r>
          </a:p>
          <a:p>
            <a:r>
              <a:t>Trace the mechanical, actuator, sensor, and software blocks.</a:t>
            </a:r>
          </a:p>
          <a:p/>
          <a:p>
            <a:r>
              <a:t>TRANSITION</a:t>
            </a:r>
          </a:p>
          <a:p>
            <a:r>
              <a:t>The control architecture separates the policy's target decision from the actuator torque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PPO chooses a target; PD supplies torque</a:t>
            </a:r>
          </a:p>
          <a:p>
            <a:r>
              <a:t>Suggested time: 55 seconds</a:t>
            </a:r>
          </a:p>
          <a:p/>
          <a:p>
            <a:r>
              <a:t>READ-ALOUD SCRIPT</a:t>
            </a:r>
          </a:p>
          <a:p>
            <a:r>
              <a:t>The policy action is a target joint angle bounded between minus one and plus one radian. That target passes through a delay queue before reaching the PD controller. The controller uses proportional position error and derivative velocity feedback, then clips commanded torque to plus or minus twelve newton metres. The dynamics update the true joint state, and noisy measurements return to both the policy and PD feedback. This structure connects reinforcement learning to a familiar control loop. In this educational code, both the policy and PD calculation update every fifty milliseconds; I am not modeling a separate high-frequency motor controller.</a:t>
            </a:r>
          </a:p>
          <a:p/>
          <a:p>
            <a:r>
              <a:t>POINT TO / DO</a:t>
            </a:r>
          </a:p>
          <a:p>
            <a:r>
              <a:t>Follow the target-angle arrow, delay queue, PD equation, and feedback loop.</a:t>
            </a:r>
          </a:p>
          <a:p/>
          <a:p>
            <a:r>
              <a:t>TRANSITION</a:t>
            </a:r>
          </a:p>
          <a:p>
            <a:r>
              <a:t>Next, I will show exactly what the environment observes and how its dynamics advance.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 transparent Gymnasium joint environment</a:t>
            </a:r>
          </a:p>
          <a:p>
            <a:r>
              <a:t>Suggested time: 50 seconds</a:t>
            </a:r>
          </a:p>
          <a:p/>
          <a:p>
            <a:r>
              <a:t>READ-ALOUD SCRIPT</a:t>
            </a:r>
          </a:p>
          <a:p>
            <a:r>
              <a:t>The environment observation contains measured angle, measured angular velocity, the current reference, the reference one hundred fifty milliseconds ahead, and the latest policy target. The preview is allowed because this is a prescribed trajectory, not an unknown future sensor measurement. Dynamics follow inertia times acceleration equals actuator torque minus viscous friction. Semi-implicit Euler updates velocity first, then angle using the new velocity. An episode lasts one hundred steps, or five simulated seconds, unless position or velocity exceeds the stated safety limits. Gymnasium reset and step methods are checked with Stable-Baselines3 before training.</a:t>
            </a:r>
          </a:p>
          <a:p/>
          <a:p>
            <a:r>
              <a:t>POINT TO / DO</a:t>
            </a:r>
          </a:p>
          <a:p>
            <a:r>
              <a:t>Point to the observation vector, Euler update, and terminated-versus-truncated conditions.</a:t>
            </a:r>
          </a:p>
          <a:p/>
          <a:p>
            <a:r>
              <a:t>TRANSITION</a:t>
            </a:r>
          </a:p>
          <a:p>
            <a:r>
              <a:t>Those states and torques also define the tracking reward and the separate success criterion.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Reward encourages tracking; success is predefined</a:t>
            </a:r>
          </a:p>
          <a:p>
            <a:r>
              <a:t>Suggested time: 55 seconds</a:t>
            </a:r>
          </a:p>
          <a:p/>
          <a:p>
            <a:r>
              <a:t>READ-ALOUD SCRIPT</a:t>
            </a:r>
          </a:p>
          <a:p>
            <a:r>
              <a:t>The step reward starts at one and subtracts three costs. Five times squared tracking error emphasizes accuracy. The squared-velocity penalty discourages unnecessarily fast or oscillatory motion, and the squared-torque penalty discourages control effort. I score these terms using the true simulated state, while the policy sees noisy measurements. Success is defined separately: complete the full five-second episode without safety termination and achieve RMSE strictly below zero point three two radians. That threshold came from the original program and was retained before training. It is an educational tolerance, approximately eighteen degrees, rather than a real robot accuracy specification.</a:t>
            </a:r>
          </a:p>
          <a:p/>
          <a:p>
            <a:r>
              <a:t>POINT TO / DO</a:t>
            </a:r>
          </a:p>
          <a:p>
            <a:r>
              <a:t>Identify each reward term, then underline the strict RMSE &lt; 0.32 rad condition.</a:t>
            </a:r>
          </a:p>
          <a:p/>
          <a:p>
            <a:r>
              <a:t>TRANSITION</a:t>
            </a:r>
          </a:p>
          <a:p>
            <a:r>
              <a:t>To make the comparison meaningful, both policies must share the learning setup and scoring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Matched PPO training conditions</a:t>
            </a:r>
          </a:p>
          <a:p>
            <a:r>
              <a:t>Suggested time: 55 seconds</a:t>
            </a:r>
          </a:p>
          <a:p/>
          <a:p>
            <a:r>
              <a:t>READ-ALOUD SCRIPT</a:t>
            </a:r>
          </a:p>
          <a:p>
            <a:r>
              <a:t>Both controllers use Stable-Baselines3 PPO with the same network architecture, seed, reward, reference-trajectory sequence, and training budget. Each policy receives twelve thousand two hundred eighty-eight environment steps, exactly forty-eight PPO rollouts of two hundred fifty-six steps. The hidden-layer architecture is thirty-two by thirty-two, with identical learning rate, batch size, update epochs, and discount factor. PPO is a particular actor-critic policy-gradient method using a clipped surrogate learning objective. It is not synonymous with every policy-gradient method, and its learning-objective clipping is different from the torque saturation inside the joint environment.</a:t>
            </a:r>
          </a:p>
          <a:p/>
          <a:p>
            <a:r>
              <a:t>POINT TO / DO</a:t>
            </a:r>
          </a:p>
          <a:p>
            <a:r>
              <a:t>Point across the matched settings, then distinguish PPO clipping from actuator saturation.</a:t>
            </a:r>
          </a:p>
          <a:p/>
          <a:p>
            <a:r>
              <a:t>TRANSITION</a:t>
            </a:r>
          </a:p>
          <a:p>
            <a:r>
              <a:t>The intended difference is the physical parameter distribution seen during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Nominal, randomized, and held-out physics</a:t>
            </a:r>
          </a:p>
          <a:p>
            <a:r>
              <a:t>Suggested time: 55 seconds</a:t>
            </a:r>
          </a:p>
          <a:p/>
          <a:p>
            <a:r>
              <a:t>READ-ALOUD SCRIPT</a:t>
            </a:r>
          </a:p>
          <a:p>
            <a:r>
              <a:t>Fixed training uses inertia scale one, viscous friction zero point two, and no target-command delay. Randomized training samples inertia between zero point seven and one point eight, friction between zero point one and zero point six five, and delay from zero through three control steps at every reset. These values stay constant within that episode. The held-out condition uses inertia one point nine five, friction zero point seven five, and four delay steps, or two hundred milliseconds. It also increases position and velocity measurement noise. Both training modes use the same smaller sensor-noise levels.</a:t>
            </a:r>
          </a:p>
          <a:p/>
          <a:p>
            <a:r>
              <a:t>POINT TO / DO</a:t>
            </a:r>
          </a:p>
          <a:p>
            <a:r>
              <a:t>Compare each held-out value with the corresponding upper training boundary.</a:t>
            </a:r>
          </a:p>
          <a:p/>
          <a:p>
            <a:r>
              <a:t>TRANSITION</a:t>
            </a:r>
          </a:p>
          <a:p>
            <a:r>
              <a:t>Those experimental choices map directly onto a small set of functions and saved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From readable code to auditable deliverables</a:t>
            </a:r>
          </a:p>
          <a:p>
            <a:r>
              <a:t>Suggested time: 40 seconds</a:t>
            </a:r>
          </a:p>
          <a:p/>
          <a:p>
            <a:r>
              <a:t>READ-ALOUD SCRIPT</a:t>
            </a:r>
          </a:p>
          <a:p>
            <a:r>
              <a:t>The source is organized around a few functions. Joint defines the environment, train creates each PPO policy, roll records an evaluation episode, summarize computes statistics, and figures creates the three requested plots. The trained policy files allow evaluation without repeating learning. Training rewards, episode records, and step records preserve the underlying numerical evidence. Requirements and the README explain installation and limitations. The executable is two hundred eighteen lines because it also includes complete plotting and audit exports. I chose inspectable output over compressing those functions into a difficult-to-read one hundred fifty lines.</a:t>
            </a:r>
          </a:p>
          <a:p/>
          <a:p>
            <a:r>
              <a:t>POINT TO / DO</a:t>
            </a:r>
          </a:p>
          <a:p>
            <a:r>
              <a:t>Point from each function name to its corresponding model, CSV, or figure output.</a:t>
            </a:r>
          </a:p>
          <a:p/>
          <a:p>
            <a:r>
              <a:t>TRANSITION</a:t>
            </a:r>
          </a:p>
          <a:p>
            <a:r>
              <a:t>The first output to inspect is the actual reward history recorded during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What the recorded training rewards show</a:t>
            </a:r>
          </a:p>
          <a:p>
            <a:r>
              <a:t>Suggested time: 45 seconds</a:t>
            </a:r>
          </a:p>
          <a:p/>
          <a:p>
            <a:r>
              <a:t>READ-ALOUD SCRIPT</a:t>
            </a:r>
          </a:p>
          <a:p>
            <a:r>
              <a:t>This figure uses recorded completed-episode rewards, not constructed curves. Faint lines show individual episodes, and bold lines show a trailing ten-episode average. Both policies improve substantially during the short training budget. The randomized policy generally has lower training returns because its episodes span harder and more varied physical conditions. That does not automatically mean worse transfer, because the two training distributions differ. The meaningful comparison comes when both trained policies face the same evaluation conditions. A rising curve also does not establish full convergence; this is deliberately short CPU training for a classroom-scale experiment.</a:t>
            </a:r>
          </a:p>
          <a:p/>
          <a:p>
            <a:r>
              <a:t>POINT TO / DO</a:t>
            </a:r>
          </a:p>
          <a:p>
            <a:r>
              <a:t>Identify the faint raw episodes and bold moving averages; compare the training distributions.</a:t>
            </a:r>
          </a:p>
          <a:p/>
          <a:p>
            <a:r>
              <a:t>TRANSITION</a:t>
            </a:r>
          </a:p>
          <a:p>
            <a:r>
              <a:t>To compare transfer fairly, I evaluate the saved policies with matched conditions and seeds.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Evaluation: 30 matched trials per condition</a:t>
            </a:r>
          </a:p>
          <a:p>
            <a:r>
              <a:t>Suggested time: 50 seconds</a:t>
            </a:r>
          </a:p>
          <a:p/>
          <a:p>
            <a:r>
              <a:t>READ-ALOUD SCRIPT</a:t>
            </a:r>
          </a:p>
          <a:p>
            <a:r>
              <a:t>Evaluation uses deterministic actions from each trained policy. I run thirty distinct matched seeds in nominal simulation and thirty in the held-out simulation for each policy, giving one hundred twenty episodes total. Separate random streams keep the reference and initial-state sequences matched despite physics randomization. The seeds also align underlying sensor-noise draws, although held-out noise is larger. I report mean episode reward, mean per-episode RMSE, sample standard deviations, and success percentages with Wilson intervals. These thirty evaluation trials vary conditions for already-trained policies; they are not thirty independent policy-training runs.</a:t>
            </a:r>
          </a:p>
          <a:p/>
          <a:p>
            <a:r>
              <a:t>POINT TO / DO</a:t>
            </a:r>
          </a:p>
          <a:p>
            <a:r>
              <a:t>Trace the two policies by two environments by thirty seeds design.</a:t>
            </a:r>
          </a:p>
          <a:p/>
          <a:p>
            <a:r>
              <a:t>TRANSITION</a:t>
            </a:r>
          </a:p>
          <a:p>
            <a:r>
              <a:t>One preselected held-out trial lets us see the tracking behavior behind those aggregate numbers.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Held-out tracking: one matched example</a:t>
            </a:r>
          </a:p>
          <a:p>
            <a:r>
              <a:t>Suggested time: 50 seconds</a:t>
            </a:r>
          </a:p>
          <a:p/>
          <a:p>
            <a:r>
              <a:t>READ-ALOUD SCRIPT</a:t>
            </a:r>
          </a:p>
          <a:p>
            <a:r>
              <a:t>Both panels show the same held-out physics and reference trajectory for seed one thousand, chosen before viewing the results. The fixed-physics policy has larger oscillation and overshoot, while the randomized policy follows this reference more closely. Higher inertia reduces acceleration for a given torque, friction changes damping, and delayed targets arrive after the state has changed. Their combined effect can produce lag and overshoot. Importantly, both policies pass the RMSE threshold in this particular trial: approximately zero point three zero eight and zero point one nine five radians. The full evaluation, not this one plot, determines the reported success rates.</a:t>
            </a:r>
          </a:p>
          <a:p/>
          <a:p>
            <a:r>
              <a:t>POINT TO / DO</a:t>
            </a:r>
          </a:p>
          <a:p>
            <a:r>
              <a:t>Compare identical dashed references, then point to the two displayed RMSE values.</a:t>
            </a:r>
          </a:p>
          <a:p/>
          <a:p>
            <a:r>
              <a:t>TRANSITION</a:t>
            </a:r>
          </a:p>
          <a:p>
            <a:r>
              <a:t>The grouped success chart summarizes all thirty paired trials rather than only this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Observed result: stronger held-out performance</a:t>
            </a:r>
          </a:p>
          <a:p>
            <a:r>
              <a:t>Suggested time: 55 seconds</a:t>
            </a:r>
          </a:p>
          <a:p/>
          <a:p>
            <a:r>
              <a:t>READ-ALOUD SCRIPT</a:t>
            </a:r>
          </a:p>
          <a:p>
            <a:r>
              <a:t>Both policies succeed in all thirty nominal trials. In the held-out simulation, the fixed policy succeeds in fourteen of thirty trials, or forty-six point seven percent. The randomized policy succeeds in twenty-nine of thirty, or ninety-six point seven percent. Mean episode RMSE falls from zero point three two nine nine to zero point two two five zero radians. The error bars are ninety-five percent Wilson success intervals. Nominal RMSE is slightly higher for the randomized policy, so the result is not better accuracy everywhere. The supported conclusion is improved held-out robustness for this one trained policy pair.</a:t>
            </a:r>
          </a:p>
          <a:p/>
          <a:p>
            <a:r>
              <a:t>POINT TO / DO</a:t>
            </a:r>
          </a:p>
          <a:p>
            <a:r>
              <a:t>Point to nominal equality, held-out 14/30 versus 29/30, and the uncertainty bars.</a:t>
            </a:r>
          </a:p>
          <a:p/>
          <a:p>
            <a:r>
              <a:t>TRANSITION</a:t>
            </a:r>
          </a:p>
          <a:p>
            <a:r>
              <a:t>I will now replay the saved policies so the code-to-result connection is visible.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Live demonstration: replay, compare, repeat</a:t>
            </a:r>
          </a:p>
          <a:p>
            <a:r>
              <a:t>Suggested time: 100 seconds</a:t>
            </a:r>
          </a:p>
          <a:p/>
          <a:p>
            <a:r>
              <a:t>READ-ALOUD SCRIPT</a:t>
            </a:r>
          </a:p>
          <a:p>
            <a:r>
              <a:t>For the live demonstration, I load the two saved model files and run the classroom helper with three trials and two rounds. The helper evaluates both policies in both conditions, then repeats exactly the same seeds to check reproducibility. Three-trial success rates can differ from the thirty-trial figures on the previous slide, so I will not substitute these quick-demo values for the scientific results. The second round is repeated execution, not independent evidence. Each invocation saves new timestamped output without changing the original models or report data. I can use thirty trials and one round to replay the complete evaluation.</a:t>
            </a:r>
          </a:p>
          <a:p/>
          <a:p>
            <a:r>
              <a:t>POINT TO / DO</a:t>
            </a:r>
          </a:p>
          <a:p>
            <a:r>
              <a:t>Switch to the prepared terminal, run --trials 3 --rounds 2, and show the repeatability check plus PNG.</a:t>
            </a:r>
          </a:p>
          <a:p/>
          <a:p>
            <a:r>
              <a:t>TRANSITION</a:t>
            </a:r>
          </a:p>
          <a:p>
            <a:r>
              <a:t>After the replay, I will summarize what was tested and how long the full experiment took.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Validation, provenance, and measured runtime</a:t>
            </a:r>
          </a:p>
          <a:p>
            <a:r>
              <a:t>Suggested time: 45 seconds</a:t>
            </a:r>
          </a:p>
          <a:p/>
          <a:p>
            <a:r>
              <a:t>READ-ALOUD SCRIPT</a:t>
            </a:r>
          </a:p>
          <a:p>
            <a:r>
              <a:t>The environment passes Stable-Baselines3's Gymnasium checker in all three physics modes. Eight regression tests cover seeding, dynamics, reward arithmetic, delay, episode handling, and safety limits. Seven artifact audits independently recompute statistics, check bounded controls and image quality, and reload the saved models to reproduce recorded trajectories. The verified full cloud run took twenty-seven point seven two seconds, including imports, both training runs, evaluation, and plotting; training took twenty point four five seconds. A repeat produced identical training and evaluation CSVs. Laptop timing and exact floating-point equality across platforms are not guaranteed.</a:t>
            </a:r>
          </a:p>
          <a:p/>
          <a:p>
            <a:r>
              <a:t>POINT TO / DO</a:t>
            </a:r>
          </a:p>
          <a:p>
            <a:r>
              <a:t>Point to the checker, 8 + 7 tests, raw-data trail, and full-run runtime label.</a:t>
            </a:r>
          </a:p>
          <a:p/>
          <a:p>
            <a:r>
              <a:t>TRANSITION</a:t>
            </a:r>
          </a:p>
          <a:p>
            <a:r>
              <a:t>Successful execution still leaves scientific and engineering limitations that matter for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Limitations and the next engineering experiment</a:t>
            </a:r>
          </a:p>
          <a:p>
            <a:r>
              <a:t>Suggested time: 55 seconds</a:t>
            </a:r>
          </a:p>
          <a:p/>
          <a:p>
            <a:r>
              <a:t>READ-ALOUD SCRIPT</a:t>
            </a:r>
          </a:p>
          <a:p>
            <a:r>
              <a:t>This model omits gravity, contacts, body coupling, balance, transmissions, and motor electrical or thermal behavior. Its inertia and noise are not calibrated to a real robot. Only one training seed was used, and evaluation uncertainty does not capture variability from retraining. The observation also hides the full delayed-action queue and physical parameters. Useful next experiments would add independent training seeds, a direct reference-following PD baseline, and one-parameter-at-a-time ablations. A richer simulator such as MuJoCo could add multibody and contact dynamics. Hardware testing would then require calibration, safety supervision, and evidence beyond this demonstration.</a:t>
            </a:r>
          </a:p>
          <a:p/>
          <a:p>
            <a:r>
              <a:t>POINT TO / DO</a:t>
            </a:r>
          </a:p>
          <a:p>
            <a:r>
              <a:t>Point first to missing physics, then the proposed baseline, seed, and ablation comparisons.</a:t>
            </a:r>
          </a:p>
          <a:p/>
          <a:p>
            <a:r>
              <a:t>TRANSITION</a:t>
            </a:r>
          </a:p>
          <a:p>
            <a:r>
              <a:t>My conclusion therefore needs to stay narrower than a claim of general real-world transfer.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Takeaway: robustness is an evidence-based claim</a:t>
            </a:r>
          </a:p>
          <a:p>
            <a:r>
              <a:t>Suggested time: 35 seconds</a:t>
            </a:r>
          </a:p>
          <a:p/>
          <a:p>
            <a:r>
              <a:t>READ-ALOUD SCRIPT</a:t>
            </a:r>
          </a:p>
          <a:p>
            <a:r>
              <a:t>My main takeaway is that the training distribution can matter as much as nominal training reward. In this experiment, varying inertia, friction, and target delay produced a policy with better held-out tracking and a higher success rate, while both policies retained full nominal success. I can demonstrate the comparison repeatedly by reloading the saved models, without confusing replay with new learning. The same workflow also preserves a disappointing result if randomization fails in a future experiment. For a mechatronics application, the value is a transparent path from assumptions to control behavior, numerical evidence, and clearly stated limitations.</a:t>
            </a:r>
          </a:p>
          <a:p/>
          <a:p>
            <a:r>
              <a:t>POINT TO / DO</a:t>
            </a:r>
          </a:p>
          <a:p>
            <a:r>
              <a:t>Return to the original question and point to the limited, evidence-supported answer.</a:t>
            </a:r>
          </a:p>
          <a:p/>
          <a:p>
            <a:r>
              <a:t>TRANSITION</a:t>
            </a:r>
          </a:p>
          <a:p>
            <a:r>
              <a:t>I have the reading connections and full numerical table available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How the four Reading 5 sources connect</a:t>
            </a:r>
          </a:p>
          <a:p>
            <a:r>
              <a:t>Suggested time: 30 seconds</a:t>
            </a:r>
          </a:p>
          <a:p/>
          <a:p>
            <a:r>
              <a:t>READ-ALOUD SCRIPT</a:t>
            </a:r>
          </a:p>
          <a:p>
            <a:r>
              <a:t>Tan and colleagues motivate attention to actuator behavior and randomized training physics in locomotion transfer. Zhao and colleagues place domain randomization within the broader reality-gap literature. Sutton and Barto's Chapter Thirteen explains policy-gradient and actor-critic foundations, while PPO is the later specific algorithm implemented here by Stable-Baselines3. MuJoCo illustrates the richer multibody, contact, constraint, and actuator physics omitted from my small Euler-integrated joint. Together, these sources explain why the experiment is relevant and why its limits matter. I am borrowing a research pattern, not claiming to reproduce a complete quadruped or its hardware performance.</a:t>
            </a:r>
          </a:p>
          <a:p/>
          <a:p>
            <a:r>
              <a:t>POINT TO / DO</a:t>
            </a:r>
          </a:p>
          <a:p>
            <a:r>
              <a:t>Point to each source's contribution and the full reference links.</a:t>
            </a:r>
          </a:p>
          <a:p/>
          <a:p>
            <a:r>
              <a:t>TRANSITION</a:t>
            </a:r>
          </a:p>
          <a:p>
            <a:r>
              <a:t>The final backup slide contains the complete statistics if a numerical detail is useful.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Backup: complete verified numerical comparison</a:t>
            </a:r>
          </a:p>
          <a:p>
            <a:r>
              <a:t>Suggested time: 30 seconds</a:t>
            </a:r>
          </a:p>
          <a:p/>
          <a:p>
            <a:r>
              <a:t>READ-ALOUD SCRIPT</a:t>
            </a:r>
          </a:p>
          <a:p>
            <a:r>
              <a:t>This table is the numerical reference for the presentation. Each row represents thirty episodes for one policy and one evaluation condition. Reward and RMSE are reported with sample standard deviations, while success includes a count, percentage, and Wilson interval. The randomized policy has slightly higher nominal mean RMSE despite similar reward and identical nominal success, because reward also includes speed and torque costs. Held-out performance improves across the reported tracking and success measures. These numbers come from the original verified evaluation CSVs; a three-trial classroom replay is a separate illustration with a smaller sample.</a:t>
            </a:r>
          </a:p>
          <a:p/>
          <a:p>
            <a:r>
              <a:t>POINT TO / DO</a:t>
            </a:r>
          </a:p>
          <a:p>
            <a:r>
              <a:t>Use the relevant row and column to answer a specific numerical question.</a:t>
            </a:r>
          </a:p>
          <a:p/>
          <a:p>
            <a:r>
              <a:t>TRANSITION</a:t>
            </a:r>
          </a:p>
          <a:p>
            <a:r>
              <a:t>I will return to the relevant slide for any questions about the model, learning method, or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arxiv.org/abs/1804.10332" TargetMode="External"/><Relationship Id="rId4" Type="http://schemas.openxmlformats.org/officeDocument/2006/relationships/hyperlink" Target="https://arxiv.org/abs/2009.13303" TargetMode="External"/><Relationship Id="rId5" Type="http://schemas.openxmlformats.org/officeDocument/2006/relationships/hyperlink" Target="http://incompleteideas.net/book/the-book-2nd.html" TargetMode="External"/><Relationship Id="rId6" Type="http://schemas.openxmlformats.org/officeDocument/2006/relationships/hyperlink" Target="https://mujoco.or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83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93D9D3"/>
                </a:solidFill>
                <a:latin typeface="Arial"/>
              </a:defRPr>
            </a:pPr>
            <a:r>
              <a:t>ENGR 6010  /  AI IN ROBOTICS</a:t>
            </a:r>
          </a:p>
        </p:txBody>
      </p:sp>
      <p:sp>
        <p:nvSpPr>
          <p:cNvPr id="3" name="Rounded Rectangle 2"/>
          <p:cNvSpPr/>
          <p:nvPr/>
        </p:nvSpPr>
        <p:spPr>
          <a:xfrm>
            <a:off x="530352" y="6117336"/>
            <a:ext cx="11109960" cy="420624"/>
          </a:xfrm>
          <a:prstGeom prst="round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FFFFFF"/>
                </a:solidFill>
                <a:latin typeface="Arial"/>
              </a:defRPr>
            </a:pPr>
            <a:r>
              <a:t>SAY  “My question is whether varied training physics helps a controller handle an unfamiliar simulated joint.”</a:t>
            </a:r>
          </a:p>
        </p:txBody>
      </p:sp>
      <p:sp>
        <p:nvSpPr>
          <p:cNvPr id="5" name="TextBox 4"/>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BED1DD"/>
                </a:solidFill>
                <a:latin typeface="Arial"/>
              </a:defRPr>
            </a:pPr>
            <a:r>
              <a:t>One-joint educational simulation  •  No physical robot trial</a:t>
            </a:r>
          </a:p>
        </p:txBody>
      </p:sp>
      <p:sp>
        <p:nvSpPr>
          <p:cNvPr id="6" name="TextBox 5"/>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BED1DD"/>
                </a:solidFill>
                <a:latin typeface="Arial"/>
              </a:defRPr>
            </a:pPr>
            <a:r>
              <a:t>01 / 18</a:t>
            </a:r>
          </a:p>
        </p:txBody>
      </p:sp>
      <p:sp>
        <p:nvSpPr>
          <p:cNvPr id="7" name="TextBox 6"/>
          <p:cNvSpPr txBox="1"/>
          <p:nvPr/>
        </p:nvSpPr>
        <p:spPr>
          <a:xfrm>
            <a:off x="594360" y="960120"/>
            <a:ext cx="7132320" cy="2560320"/>
          </a:xfrm>
          <a:prstGeom prst="rect">
            <a:avLst/>
          </a:prstGeom>
          <a:noFill/>
        </p:spPr>
        <p:txBody>
          <a:bodyPr wrap="square" lIns="22860" rIns="22860" tIns="13716" bIns="13716">
            <a:spAutoFit/>
          </a:bodyPr>
          <a:lstStyle/>
          <a:p>
            <a:pPr algn="l">
              <a:spcAft>
                <a:spcPts val="700"/>
              </a:spcAft>
              <a:defRPr sz="4400" b="1">
                <a:solidFill>
                  <a:srgbClr val="FFFFFF"/>
                </a:solidFill>
                <a:latin typeface="Arial"/>
              </a:defRPr>
            </a:pPr>
            <a:r>
              <a:t>Sim-to-Real</a:t>
            </a:r>
          </a:p>
          <a:p>
            <a:pPr algn="l">
              <a:spcAft>
                <a:spcPts val="700"/>
              </a:spcAft>
              <a:defRPr sz="4400" b="1">
                <a:solidFill>
                  <a:srgbClr val="FFFFFF"/>
                </a:solidFill>
                <a:latin typeface="Arial"/>
              </a:defRPr>
            </a:pPr>
            <a:r>
              <a:t>Joint Tracking</a:t>
            </a:r>
          </a:p>
          <a:p>
            <a:pPr algn="l">
              <a:spcAft>
                <a:spcPts val="700"/>
              </a:spcAft>
              <a:defRPr sz="4400" b="1">
                <a:solidFill>
                  <a:srgbClr val="FFFFFF"/>
                </a:solidFill>
                <a:latin typeface="Arial"/>
              </a:defRPr>
            </a:pPr>
            <a:r>
              <a:t>with PPO</a:t>
            </a:r>
          </a:p>
        </p:txBody>
      </p:sp>
      <p:sp>
        <p:nvSpPr>
          <p:cNvPr id="8" name="TextBox 7"/>
          <p:cNvSpPr txBox="1"/>
          <p:nvPr/>
        </p:nvSpPr>
        <p:spPr>
          <a:xfrm>
            <a:off x="621792" y="3675887"/>
            <a:ext cx="6949440" cy="941832"/>
          </a:xfrm>
          <a:prstGeom prst="rect">
            <a:avLst/>
          </a:prstGeom>
          <a:noFill/>
        </p:spPr>
        <p:txBody>
          <a:bodyPr wrap="square" lIns="22860" rIns="22860" tIns="13716" bIns="13716">
            <a:spAutoFit/>
          </a:bodyPr>
          <a:lstStyle/>
          <a:p>
            <a:pPr algn="l">
              <a:spcAft>
                <a:spcPts val="700"/>
              </a:spcAft>
              <a:defRPr sz="2400" b="0">
                <a:solidFill>
                  <a:srgbClr val="D3E5EE"/>
                </a:solidFill>
                <a:latin typeface="Arial"/>
              </a:defRPr>
            </a:pPr>
            <a:r>
              <a:t>Can varied training physics improve</a:t>
            </a:r>
          </a:p>
          <a:p>
            <a:pPr algn="l">
              <a:spcAft>
                <a:spcPts val="700"/>
              </a:spcAft>
              <a:defRPr sz="2400" b="0">
                <a:solidFill>
                  <a:srgbClr val="D3E5EE"/>
                </a:solidFill>
                <a:latin typeface="Arial"/>
              </a:defRPr>
            </a:pPr>
            <a:r>
              <a:t>performance in an unfamiliar simulation?</a:t>
            </a:r>
          </a:p>
        </p:txBody>
      </p:sp>
      <p:sp>
        <p:nvSpPr>
          <p:cNvPr id="9" name="TextBox 8"/>
          <p:cNvSpPr txBox="1"/>
          <p:nvPr/>
        </p:nvSpPr>
        <p:spPr>
          <a:xfrm>
            <a:off x="640080" y="4892040"/>
            <a:ext cx="9875520" cy="365760"/>
          </a:xfrm>
          <a:prstGeom prst="rect">
            <a:avLst/>
          </a:prstGeom>
          <a:noFill/>
        </p:spPr>
        <p:txBody>
          <a:bodyPr wrap="square" lIns="22860" rIns="22860" tIns="13716" bIns="13716">
            <a:spAutoFit/>
          </a:bodyPr>
          <a:lstStyle/>
          <a:p>
            <a:pPr algn="l">
              <a:spcAft>
                <a:spcPts val="700"/>
              </a:spcAft>
              <a:defRPr sz="1900" b="0">
                <a:solidFill>
                  <a:srgbClr val="93D9D3"/>
                </a:solidFill>
                <a:latin typeface="Arial"/>
              </a:defRPr>
            </a:pPr>
            <a:r>
              <a:t>Mechatronics engineering student demonstration</a:t>
            </a:r>
          </a:p>
        </p:txBody>
      </p:sp>
      <p:sp>
        <p:nvSpPr>
          <p:cNvPr id="10" name="Rounded Rectangle 9"/>
          <p:cNvSpPr/>
          <p:nvPr/>
        </p:nvSpPr>
        <p:spPr>
          <a:xfrm>
            <a:off x="8321040" y="1417320"/>
            <a:ext cx="3200400" cy="3931920"/>
          </a:xfrm>
          <a:prstGeom prst="roundRect">
            <a:avLst/>
          </a:prstGeom>
          <a:solidFill>
            <a:srgbClr val="20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235440" y="1975104"/>
            <a:ext cx="1005840" cy="1005840"/>
          </a:xfrm>
          <a:prstGeom prst="ellipse">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0" y="2139696"/>
            <a:ext cx="457200" cy="457200"/>
          </a:xfrm>
          <a:prstGeom prst="rect">
            <a:avLst/>
          </a:prstGeom>
          <a:noFill/>
        </p:spPr>
        <p:txBody>
          <a:bodyPr wrap="square" lIns="22860" rIns="22860" tIns="13716" bIns="13716">
            <a:spAutoFit/>
          </a:bodyPr>
          <a:lstStyle/>
          <a:p>
            <a:pPr algn="l">
              <a:spcAft>
                <a:spcPts val="700"/>
              </a:spcAft>
              <a:defRPr sz="2600" b="1">
                <a:solidFill>
                  <a:srgbClr val="FFFFFF"/>
                </a:solidFill>
                <a:latin typeface="Arial"/>
              </a:defRPr>
            </a:pPr>
            <a:r>
              <a:t>q</a:t>
            </a:r>
          </a:p>
        </p:txBody>
      </p:sp>
      <p:cxnSp>
        <p:nvCxnSpPr>
          <p:cNvPr id="13" name="Connector 12"/>
          <p:cNvCxnSpPr/>
          <p:nvPr/>
        </p:nvCxnSpPr>
        <p:spPr>
          <a:xfrm>
            <a:off x="9738360" y="2926080"/>
            <a:ext cx="777240" cy="822959"/>
          </a:xfrm>
          <a:prstGeom prst="line">
            <a:avLst/>
          </a:prstGeom>
          <a:ln w="165100">
            <a:solidFill>
              <a:srgbClr val="93D9D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9144000" y="3749039"/>
            <a:ext cx="1371600" cy="640081"/>
          </a:xfrm>
          <a:prstGeom prst="line">
            <a:avLst/>
          </a:prstGeom>
          <a:ln w="165100">
            <a:solidFill>
              <a:srgbClr val="93D9D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03920" y="4645152"/>
            <a:ext cx="2834640" cy="530352"/>
          </a:xfrm>
          <a:prstGeom prst="rect">
            <a:avLst/>
          </a:prstGeom>
          <a:noFill/>
        </p:spPr>
        <p:txBody>
          <a:bodyPr wrap="square" lIns="22860" rIns="22860" tIns="13716" bIns="13716">
            <a:spAutoFit/>
          </a:bodyPr>
          <a:lstStyle/>
          <a:p>
            <a:pPr algn="ctr">
              <a:spcAft>
                <a:spcPts val="700"/>
              </a:spcAft>
              <a:defRPr sz="1700" b="0">
                <a:solidFill>
                  <a:srgbClr val="FFFFFF"/>
                </a:solidFill>
                <a:latin typeface="Arial"/>
              </a:defRPr>
            </a:pPr>
            <a:r>
              <a:t>1 joint • 2 policies</a:t>
            </a:r>
          </a:p>
          <a:p>
            <a:pPr algn="ctr">
              <a:spcAft>
                <a:spcPts val="700"/>
              </a:spcAft>
              <a:defRPr sz="1700" b="0">
                <a:solidFill>
                  <a:srgbClr val="FFFFFF"/>
                </a:solidFill>
                <a:latin typeface="Arial"/>
              </a:defRPr>
            </a:pPr>
            <a:r>
              <a:t>120 evaluation episodes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Why this is a mechatronics problem</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“A useful controller must work with the motor, the sensors, and the mechanical system together.”</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02 / 18</a:t>
            </a:r>
          </a:p>
        </p:txBody>
      </p:sp>
      <p:sp>
        <p:nvSpPr>
          <p:cNvPr id="9" name="TextBox 8"/>
          <p:cNvSpPr txBox="1"/>
          <p:nvPr/>
        </p:nvSpPr>
        <p:spPr>
          <a:xfrm>
            <a:off x="612648" y="1508760"/>
            <a:ext cx="10927080" cy="594360"/>
          </a:xfrm>
          <a:prstGeom prst="rect">
            <a:avLst/>
          </a:prstGeom>
          <a:noFill/>
        </p:spPr>
        <p:txBody>
          <a:bodyPr wrap="square" lIns="22860" rIns="22860" tIns="13716" bIns="13716">
            <a:spAutoFit/>
          </a:bodyPr>
          <a:lstStyle/>
          <a:p>
            <a:pPr algn="l">
              <a:spcAft>
                <a:spcPts val="700"/>
              </a:spcAft>
              <a:defRPr sz="2700" b="1">
                <a:solidFill>
                  <a:srgbClr val="14283F"/>
                </a:solidFill>
                <a:latin typeface="Arial"/>
              </a:defRPr>
            </a:pPr>
            <a:r>
              <a:t>A robot controller meets more than an ideal equation.</a:t>
            </a:r>
          </a:p>
        </p:txBody>
      </p:sp>
      <p:sp>
        <p:nvSpPr>
          <p:cNvPr id="10" name="Rounded Rectangle 9"/>
          <p:cNvSpPr/>
          <p:nvPr/>
        </p:nvSpPr>
        <p:spPr>
          <a:xfrm>
            <a:off x="621792" y="2423160"/>
            <a:ext cx="3493008" cy="2514600"/>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2423160"/>
            <a:ext cx="64008" cy="251460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578608"/>
            <a:ext cx="3127248" cy="502920"/>
          </a:xfrm>
          <a:prstGeom prst="rect">
            <a:avLst/>
          </a:prstGeom>
          <a:noFill/>
        </p:spPr>
        <p:txBody>
          <a:bodyPr wrap="square" lIns="22860" rIns="22860" tIns="13716" bIns="13716">
            <a:spAutoFit/>
          </a:bodyPr>
          <a:lstStyle/>
          <a:p>
            <a:pPr algn="l">
              <a:spcAft>
                <a:spcPts val="700"/>
              </a:spcAft>
              <a:defRPr sz="2300" b="1">
                <a:solidFill>
                  <a:srgbClr val="00746C"/>
                </a:solidFill>
                <a:latin typeface="Arial"/>
              </a:defRPr>
            </a:pPr>
            <a:r>
              <a:t>MECHANICS</a:t>
            </a:r>
          </a:p>
        </p:txBody>
      </p:sp>
      <p:sp>
        <p:nvSpPr>
          <p:cNvPr id="13" name="TextBox 12"/>
          <p:cNvSpPr txBox="1"/>
          <p:nvPr/>
        </p:nvSpPr>
        <p:spPr>
          <a:xfrm>
            <a:off x="804672" y="3200400"/>
            <a:ext cx="3127248" cy="1645920"/>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Inertia changes acceleration.</a:t>
            </a:r>
          </a:p>
          <a:p>
            <a:pPr algn="l">
              <a:spcAft>
                <a:spcPts val="700"/>
              </a:spcAft>
              <a:defRPr sz="2000" b="0">
                <a:solidFill>
                  <a:srgbClr val="14283F"/>
                </a:solidFill>
                <a:latin typeface="Arial"/>
              </a:defRPr>
            </a:pPr>
            <a:r>
              <a:t>Friction changes damping.</a:t>
            </a:r>
          </a:p>
        </p:txBody>
      </p:sp>
      <p:sp>
        <p:nvSpPr>
          <p:cNvPr id="14" name="Rounded Rectangle 13"/>
          <p:cNvSpPr/>
          <p:nvPr/>
        </p:nvSpPr>
        <p:spPr>
          <a:xfrm>
            <a:off x="4343400" y="2423160"/>
            <a:ext cx="3493008" cy="2514600"/>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2423160"/>
            <a:ext cx="64008" cy="2514600"/>
          </a:xfrm>
          <a:prstGeom prst="rect">
            <a:avLst/>
          </a:prstGeom>
          <a:solidFill>
            <a:srgbClr val="C65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2578608"/>
            <a:ext cx="3127248" cy="502920"/>
          </a:xfrm>
          <a:prstGeom prst="rect">
            <a:avLst/>
          </a:prstGeom>
          <a:noFill/>
        </p:spPr>
        <p:txBody>
          <a:bodyPr wrap="square" lIns="22860" rIns="22860" tIns="13716" bIns="13716">
            <a:spAutoFit/>
          </a:bodyPr>
          <a:lstStyle/>
          <a:p>
            <a:pPr algn="l">
              <a:spcAft>
                <a:spcPts val="700"/>
              </a:spcAft>
              <a:defRPr sz="2300" b="1">
                <a:solidFill>
                  <a:srgbClr val="C65924"/>
                </a:solidFill>
                <a:latin typeface="Arial"/>
              </a:defRPr>
            </a:pPr>
            <a:r>
              <a:t>ACTUATION</a:t>
            </a:r>
          </a:p>
        </p:txBody>
      </p:sp>
      <p:sp>
        <p:nvSpPr>
          <p:cNvPr id="17" name="TextBox 16"/>
          <p:cNvSpPr txBox="1"/>
          <p:nvPr/>
        </p:nvSpPr>
        <p:spPr>
          <a:xfrm>
            <a:off x="4526280" y="3200400"/>
            <a:ext cx="3127248" cy="1645920"/>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Delayed commands arrive late.</a:t>
            </a:r>
          </a:p>
          <a:p>
            <a:pPr algn="l">
              <a:spcAft>
                <a:spcPts val="700"/>
              </a:spcAft>
              <a:defRPr sz="2000" b="0">
                <a:solidFill>
                  <a:srgbClr val="14283F"/>
                </a:solidFill>
                <a:latin typeface="Arial"/>
              </a:defRPr>
            </a:pPr>
            <a:r>
              <a:t>Torque has physical limits.</a:t>
            </a:r>
          </a:p>
        </p:txBody>
      </p:sp>
      <p:sp>
        <p:nvSpPr>
          <p:cNvPr id="18" name="Rounded Rectangle 17"/>
          <p:cNvSpPr/>
          <p:nvPr/>
        </p:nvSpPr>
        <p:spPr>
          <a:xfrm>
            <a:off x="8074152" y="2423160"/>
            <a:ext cx="3493008" cy="2514600"/>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2423160"/>
            <a:ext cx="64008" cy="25146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57031" y="2578608"/>
            <a:ext cx="3127248" cy="502920"/>
          </a:xfrm>
          <a:prstGeom prst="rect">
            <a:avLst/>
          </a:prstGeom>
          <a:noFill/>
        </p:spPr>
        <p:txBody>
          <a:bodyPr wrap="square" lIns="22860" rIns="22860" tIns="13716" bIns="13716">
            <a:spAutoFit/>
          </a:bodyPr>
          <a:lstStyle/>
          <a:p>
            <a:pPr algn="l">
              <a:spcAft>
                <a:spcPts val="700"/>
              </a:spcAft>
              <a:defRPr sz="2300" b="1">
                <a:solidFill>
                  <a:srgbClr val="0072B2"/>
                </a:solidFill>
                <a:latin typeface="Arial"/>
              </a:defRPr>
            </a:pPr>
            <a:r>
              <a:t>SENSING</a:t>
            </a:r>
          </a:p>
        </p:txBody>
      </p:sp>
      <p:sp>
        <p:nvSpPr>
          <p:cNvPr id="21" name="TextBox 20"/>
          <p:cNvSpPr txBox="1"/>
          <p:nvPr/>
        </p:nvSpPr>
        <p:spPr>
          <a:xfrm>
            <a:off x="8257031" y="3200400"/>
            <a:ext cx="3127248" cy="1645920"/>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Measurements contain noise.</a:t>
            </a:r>
          </a:p>
          <a:p>
            <a:pPr algn="l">
              <a:spcAft>
                <a:spcPts val="700"/>
              </a:spcAft>
              <a:defRPr sz="2000" b="0">
                <a:solidFill>
                  <a:srgbClr val="14283F"/>
                </a:solidFill>
                <a:latin typeface="Arial"/>
              </a:defRPr>
            </a:pPr>
            <a:r>
              <a:t>Feedback quality affects control.</a:t>
            </a:r>
          </a:p>
        </p:txBody>
      </p:sp>
      <p:sp>
        <p:nvSpPr>
          <p:cNvPr id="22" name="TextBox 21"/>
          <p:cNvSpPr txBox="1"/>
          <p:nvPr/>
        </p:nvSpPr>
        <p:spPr>
          <a:xfrm>
            <a:off x="640080" y="5349240"/>
            <a:ext cx="10881360" cy="411480"/>
          </a:xfrm>
          <a:prstGeom prst="rect">
            <a:avLst/>
          </a:prstGeom>
          <a:noFill/>
        </p:spPr>
        <p:txBody>
          <a:bodyPr wrap="square" lIns="22860" rIns="22860" tIns="13716" bIns="13716">
            <a:spAutoFit/>
          </a:bodyPr>
          <a:lstStyle/>
          <a:p>
            <a:pPr algn="l">
              <a:spcAft>
                <a:spcPts val="700"/>
              </a:spcAft>
              <a:defRPr sz="2100" b="0">
                <a:solidFill>
                  <a:srgbClr val="526477"/>
                </a:solidFill>
                <a:latin typeface="Arial"/>
              </a:defRPr>
            </a:pPr>
            <a:r>
              <a:t>Inspired by Go2 / ANYmal applications; this model isolates one joint.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PPO chooses a target; PD supplies torque</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 policy decides where to move; the PD controller computes the torque needed to move there.”</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03 / 18</a:t>
            </a:r>
          </a:p>
        </p:txBody>
      </p:sp>
      <p:sp>
        <p:nvSpPr>
          <p:cNvPr id="9" name="Rounded Rectangle 8"/>
          <p:cNvSpPr/>
          <p:nvPr/>
        </p:nvSpPr>
        <p:spPr>
          <a:xfrm>
            <a:off x="658368" y="1874519"/>
            <a:ext cx="2148840" cy="1874519"/>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874519"/>
            <a:ext cx="64008" cy="1874519"/>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029967"/>
            <a:ext cx="1783080" cy="502920"/>
          </a:xfrm>
          <a:prstGeom prst="rect">
            <a:avLst/>
          </a:prstGeom>
          <a:noFill/>
        </p:spPr>
        <p:txBody>
          <a:bodyPr wrap="square" lIns="22860" rIns="22860" tIns="13716" bIns="13716">
            <a:spAutoFit/>
          </a:bodyPr>
          <a:lstStyle/>
          <a:p>
            <a:pPr algn="l">
              <a:spcAft>
                <a:spcPts val="700"/>
              </a:spcAft>
              <a:defRPr sz="1900" b="1">
                <a:solidFill>
                  <a:srgbClr val="00746C"/>
                </a:solidFill>
                <a:latin typeface="Arial"/>
              </a:defRPr>
            </a:pPr>
            <a:r>
              <a:t>OBSERVATION</a:t>
            </a:r>
          </a:p>
        </p:txBody>
      </p:sp>
      <p:sp>
        <p:nvSpPr>
          <p:cNvPr id="12" name="TextBox 11"/>
          <p:cNvSpPr txBox="1"/>
          <p:nvPr/>
        </p:nvSpPr>
        <p:spPr>
          <a:xfrm>
            <a:off x="841247" y="2651760"/>
            <a:ext cx="1783080" cy="1005839"/>
          </a:xfrm>
          <a:prstGeom prst="rect">
            <a:avLst/>
          </a:prstGeom>
          <a:noFill/>
        </p:spPr>
        <p:txBody>
          <a:bodyPr wrap="square" lIns="22860" rIns="22860" tIns="13716" bIns="13716">
            <a:spAutoFit/>
          </a:bodyPr>
          <a:lstStyle/>
          <a:p>
            <a:pPr algn="l">
              <a:spcAft>
                <a:spcPts val="700"/>
              </a:spcAft>
              <a:defRPr sz="1800" b="0">
                <a:solidFill>
                  <a:srgbClr val="14283F"/>
                </a:solidFill>
                <a:latin typeface="Arial"/>
              </a:defRPr>
            </a:pPr>
            <a:r>
              <a:t>q, ω (noisy)</a:t>
            </a:r>
          </a:p>
          <a:p>
            <a:pPr algn="l">
              <a:spcAft>
                <a:spcPts val="700"/>
              </a:spcAft>
              <a:defRPr sz="1800" b="0">
                <a:solidFill>
                  <a:srgbClr val="14283F"/>
                </a:solidFill>
                <a:latin typeface="Arial"/>
              </a:defRPr>
            </a:pPr>
            <a:r>
              <a:t>r, r (preview)</a:t>
            </a:r>
          </a:p>
          <a:p>
            <a:pPr algn="l">
              <a:spcAft>
                <a:spcPts val="700"/>
              </a:spcAft>
              <a:defRPr sz="1800" b="0">
                <a:solidFill>
                  <a:srgbClr val="14283F"/>
                </a:solidFill>
                <a:latin typeface="Arial"/>
              </a:defRPr>
            </a:pPr>
            <a:r>
              <a:t>Last target</a:t>
            </a:r>
          </a:p>
        </p:txBody>
      </p:sp>
      <p:sp>
        <p:nvSpPr>
          <p:cNvPr id="13" name="Rounded Rectangle 12"/>
          <p:cNvSpPr/>
          <p:nvPr/>
        </p:nvSpPr>
        <p:spPr>
          <a:xfrm>
            <a:off x="3172968" y="1874519"/>
            <a:ext cx="1874519" cy="1874519"/>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72968" y="1874519"/>
            <a:ext cx="64008" cy="1874519"/>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55848" y="2029967"/>
            <a:ext cx="1508760" cy="502920"/>
          </a:xfrm>
          <a:prstGeom prst="rect">
            <a:avLst/>
          </a:prstGeom>
          <a:noFill/>
        </p:spPr>
        <p:txBody>
          <a:bodyPr wrap="square" lIns="22860" rIns="22860" tIns="13716" bIns="13716">
            <a:spAutoFit/>
          </a:bodyPr>
          <a:lstStyle/>
          <a:p>
            <a:pPr algn="l">
              <a:spcAft>
                <a:spcPts val="700"/>
              </a:spcAft>
              <a:defRPr sz="1900" b="1">
                <a:solidFill>
                  <a:srgbClr val="00746C"/>
                </a:solidFill>
                <a:latin typeface="Arial"/>
              </a:defRPr>
            </a:pPr>
            <a:r>
              <a:t>PPO</a:t>
            </a:r>
          </a:p>
        </p:txBody>
      </p:sp>
      <p:sp>
        <p:nvSpPr>
          <p:cNvPr id="16" name="TextBox 15"/>
          <p:cNvSpPr txBox="1"/>
          <p:nvPr/>
        </p:nvSpPr>
        <p:spPr>
          <a:xfrm>
            <a:off x="3355848" y="2651760"/>
            <a:ext cx="1508760" cy="1005839"/>
          </a:xfrm>
          <a:prstGeom prst="rect">
            <a:avLst/>
          </a:prstGeom>
          <a:noFill/>
        </p:spPr>
        <p:txBody>
          <a:bodyPr wrap="square" lIns="22860" rIns="22860" tIns="13716" bIns="13716">
            <a:spAutoFit/>
          </a:bodyPr>
          <a:lstStyle/>
          <a:p>
            <a:pPr algn="l">
              <a:spcAft>
                <a:spcPts val="700"/>
              </a:spcAft>
              <a:defRPr sz="1800" b="0">
                <a:solidFill>
                  <a:srgbClr val="14283F"/>
                </a:solidFill>
                <a:latin typeface="Arial"/>
              </a:defRPr>
            </a:pPr>
            <a:r>
              <a:t>Target angle</a:t>
            </a:r>
          </a:p>
          <a:p>
            <a:pPr algn="l">
              <a:spcAft>
                <a:spcPts val="700"/>
              </a:spcAft>
              <a:defRPr sz="1800" b="0">
                <a:solidFill>
                  <a:srgbClr val="14283F"/>
                </a:solidFill>
                <a:latin typeface="Arial"/>
              </a:defRPr>
            </a:pPr>
            <a:r>
              <a:t>−1 to +1 rad</a:t>
            </a:r>
          </a:p>
        </p:txBody>
      </p:sp>
      <p:sp>
        <p:nvSpPr>
          <p:cNvPr id="17" name="Rounded Rectangle 16"/>
          <p:cNvSpPr/>
          <p:nvPr/>
        </p:nvSpPr>
        <p:spPr>
          <a:xfrm>
            <a:off x="5413248" y="1874519"/>
            <a:ext cx="2313432" cy="1874519"/>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13248" y="1874519"/>
            <a:ext cx="64008" cy="1874519"/>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96128" y="2029967"/>
            <a:ext cx="1947672" cy="502920"/>
          </a:xfrm>
          <a:prstGeom prst="rect">
            <a:avLst/>
          </a:prstGeom>
          <a:noFill/>
        </p:spPr>
        <p:txBody>
          <a:bodyPr wrap="square" lIns="22860" rIns="22860" tIns="13716" bIns="13716">
            <a:spAutoFit/>
          </a:bodyPr>
          <a:lstStyle/>
          <a:p>
            <a:pPr algn="l">
              <a:spcAft>
                <a:spcPts val="700"/>
              </a:spcAft>
              <a:defRPr sz="1900" b="1">
                <a:solidFill>
                  <a:srgbClr val="00746C"/>
                </a:solidFill>
                <a:latin typeface="Arial"/>
              </a:defRPr>
            </a:pPr>
            <a:r>
              <a:t>DELAY + PD</a:t>
            </a:r>
          </a:p>
        </p:txBody>
      </p:sp>
      <p:sp>
        <p:nvSpPr>
          <p:cNvPr id="20" name="TextBox 19"/>
          <p:cNvSpPr txBox="1"/>
          <p:nvPr/>
        </p:nvSpPr>
        <p:spPr>
          <a:xfrm>
            <a:off x="5596128" y="2651760"/>
            <a:ext cx="1947672" cy="1005839"/>
          </a:xfrm>
          <a:prstGeom prst="rect">
            <a:avLst/>
          </a:prstGeom>
          <a:noFill/>
        </p:spPr>
        <p:txBody>
          <a:bodyPr wrap="square" lIns="22860" rIns="22860" tIns="13716" bIns="13716">
            <a:spAutoFit/>
          </a:bodyPr>
          <a:lstStyle/>
          <a:p>
            <a:pPr algn="l">
              <a:spcAft>
                <a:spcPts val="700"/>
              </a:spcAft>
              <a:defRPr sz="1800" b="0">
                <a:solidFill>
                  <a:srgbClr val="14283F"/>
                </a:solidFill>
                <a:latin typeface="Arial"/>
              </a:defRPr>
            </a:pPr>
            <a:r>
              <a:t>Queued target</a:t>
            </a:r>
          </a:p>
          <a:p>
            <a:pPr algn="l">
              <a:spcAft>
                <a:spcPts val="700"/>
              </a:spcAft>
              <a:defRPr sz="1800" b="0">
                <a:solidFill>
                  <a:srgbClr val="14283F"/>
                </a:solidFill>
                <a:latin typeface="Arial"/>
              </a:defRPr>
            </a:pPr>
            <a:r>
              <a:t>Torque ±12 N·m</a:t>
            </a:r>
          </a:p>
        </p:txBody>
      </p:sp>
      <p:sp>
        <p:nvSpPr>
          <p:cNvPr id="21" name="Rounded Rectangle 20"/>
          <p:cNvSpPr/>
          <p:nvPr/>
        </p:nvSpPr>
        <p:spPr>
          <a:xfrm>
            <a:off x="8092440" y="1874519"/>
            <a:ext cx="2788920" cy="1874519"/>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2440" y="1874519"/>
            <a:ext cx="64008" cy="1874519"/>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19" y="2029967"/>
            <a:ext cx="2423160" cy="502920"/>
          </a:xfrm>
          <a:prstGeom prst="rect">
            <a:avLst/>
          </a:prstGeom>
          <a:noFill/>
        </p:spPr>
        <p:txBody>
          <a:bodyPr wrap="square" lIns="22860" rIns="22860" tIns="13716" bIns="13716">
            <a:spAutoFit/>
          </a:bodyPr>
          <a:lstStyle/>
          <a:p>
            <a:pPr algn="l">
              <a:spcAft>
                <a:spcPts val="700"/>
              </a:spcAft>
              <a:defRPr sz="1900" b="1">
                <a:solidFill>
                  <a:srgbClr val="00746C"/>
                </a:solidFill>
                <a:latin typeface="Arial"/>
              </a:defRPr>
            </a:pPr>
            <a:r>
              <a:t>JOINT MODEL</a:t>
            </a:r>
          </a:p>
        </p:txBody>
      </p:sp>
      <p:sp>
        <p:nvSpPr>
          <p:cNvPr id="24" name="TextBox 23"/>
          <p:cNvSpPr txBox="1"/>
          <p:nvPr/>
        </p:nvSpPr>
        <p:spPr>
          <a:xfrm>
            <a:off x="8275319" y="2651760"/>
            <a:ext cx="2423160" cy="1005839"/>
          </a:xfrm>
          <a:prstGeom prst="rect">
            <a:avLst/>
          </a:prstGeom>
          <a:noFill/>
        </p:spPr>
        <p:txBody>
          <a:bodyPr wrap="square" lIns="22860" rIns="22860" tIns="13716" bIns="13716">
            <a:spAutoFit/>
          </a:bodyPr>
          <a:lstStyle/>
          <a:p>
            <a:pPr algn="l">
              <a:spcAft>
                <a:spcPts val="700"/>
              </a:spcAft>
              <a:defRPr sz="1800" b="0">
                <a:solidFill>
                  <a:srgbClr val="14283F"/>
                </a:solidFill>
                <a:latin typeface="Arial"/>
              </a:defRPr>
            </a:pPr>
            <a:r>
              <a:t>Inertia + friction</a:t>
            </a:r>
          </a:p>
          <a:p>
            <a:pPr algn="l">
              <a:spcAft>
                <a:spcPts val="700"/>
              </a:spcAft>
              <a:defRPr sz="1800" b="0">
                <a:solidFill>
                  <a:srgbClr val="14283F"/>
                </a:solidFill>
                <a:latin typeface="Arial"/>
              </a:defRPr>
            </a:pPr>
            <a:r>
              <a:t>Angle + velocity</a:t>
            </a:r>
          </a:p>
        </p:txBody>
      </p:sp>
      <p:cxnSp>
        <p:nvCxnSpPr>
          <p:cNvPr id="25" name="Connector 24"/>
          <p:cNvCxnSpPr/>
          <p:nvPr/>
        </p:nvCxnSpPr>
        <p:spPr>
          <a:xfrm>
            <a:off x="2816352" y="2788920"/>
            <a:ext cx="274320" cy="0"/>
          </a:xfrm>
          <a:prstGeom prst="line">
            <a:avLst/>
          </a:prstGeom>
          <a:ln w="31750">
            <a:solidFill>
              <a:srgbClr val="00746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3026664" y="2715768"/>
            <a:ext cx="137160" cy="146304"/>
          </a:xfrm>
          <a:prstGeom prst="chevron">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5056632" y="2788920"/>
            <a:ext cx="274320" cy="0"/>
          </a:xfrm>
          <a:prstGeom prst="line">
            <a:avLst/>
          </a:prstGeom>
          <a:ln w="31750">
            <a:solidFill>
              <a:srgbClr val="00746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5266944" y="2715768"/>
            <a:ext cx="137160" cy="146304"/>
          </a:xfrm>
          <a:prstGeom prst="chevron">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7735824" y="2788920"/>
            <a:ext cx="283464" cy="0"/>
          </a:xfrm>
          <a:prstGeom prst="line">
            <a:avLst/>
          </a:prstGeom>
          <a:ln w="31750">
            <a:solidFill>
              <a:srgbClr val="00746C"/>
            </a:solidFill>
          </a:ln>
        </p:spPr>
        <p:style>
          <a:lnRef idx="2">
            <a:schemeClr val="accent1"/>
          </a:lnRef>
          <a:fillRef idx="0">
            <a:schemeClr val="accent1"/>
          </a:fillRef>
          <a:effectRef idx="1">
            <a:schemeClr val="accent1"/>
          </a:effectRef>
          <a:fontRef idx="minor">
            <a:schemeClr val="tx1"/>
          </a:fontRef>
        </p:style>
      </p:cxnSp>
      <p:sp>
        <p:nvSpPr>
          <p:cNvPr id="30" name="Chevron 29"/>
          <p:cNvSpPr/>
          <p:nvPr/>
        </p:nvSpPr>
        <p:spPr>
          <a:xfrm>
            <a:off x="7955279" y="2715768"/>
            <a:ext cx="137160" cy="146304"/>
          </a:xfrm>
          <a:prstGeom prst="chevron">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4087368"/>
            <a:ext cx="10789920" cy="457200"/>
          </a:xfrm>
          <a:prstGeom prst="rect">
            <a:avLst/>
          </a:prstGeom>
          <a:noFill/>
        </p:spPr>
        <p:txBody>
          <a:bodyPr wrap="square" lIns="22860" rIns="22860" tIns="13716" bIns="13716">
            <a:spAutoFit/>
          </a:bodyPr>
          <a:lstStyle/>
          <a:p>
            <a:pPr algn="l">
              <a:spcAft>
                <a:spcPts val="700"/>
              </a:spcAft>
              <a:defRPr sz="2200" b="1">
                <a:solidFill>
                  <a:srgbClr val="00746C"/>
                </a:solidFill>
                <a:latin typeface="Arial"/>
              </a:defRPr>
            </a:pPr>
            <a:r>
              <a:t>Noisy state returns to both the policy and PD feedback.</a:t>
            </a:r>
          </a:p>
        </p:txBody>
      </p:sp>
      <p:sp>
        <p:nvSpPr>
          <p:cNvPr id="32" name="Rounded Rectangle 31"/>
          <p:cNvSpPr/>
          <p:nvPr/>
        </p:nvSpPr>
        <p:spPr>
          <a:xfrm>
            <a:off x="676656" y="4700016"/>
            <a:ext cx="10835640" cy="749808"/>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 y="4919472"/>
            <a:ext cx="10469880" cy="365760"/>
          </a:xfrm>
          <a:prstGeom prst="rect">
            <a:avLst/>
          </a:prstGeom>
          <a:noFill/>
        </p:spPr>
        <p:txBody>
          <a:bodyPr wrap="square" lIns="22860" rIns="22860" tIns="13716" bIns="13716">
            <a:spAutoFit/>
          </a:bodyPr>
          <a:lstStyle/>
          <a:p>
            <a:pPr algn="l">
              <a:spcAft>
                <a:spcPts val="700"/>
              </a:spcAft>
              <a:defRPr sz="2300" b="0">
                <a:solidFill>
                  <a:srgbClr val="14283F"/>
                </a:solidFill>
                <a:latin typeface="Arial"/>
              </a:defRPr>
            </a:pPr>
            <a:r>
              <a:t>τ = clip[12(qtarget, delayed − qmeasured) − 2ωmeasured, −12, 12]</a:t>
            </a:r>
          </a:p>
        </p:txBody>
      </p:sp>
      <p:sp>
        <p:nvSpPr>
          <p:cNvPr id="34" name="TextBox 33"/>
          <p:cNvSpPr txBox="1"/>
          <p:nvPr/>
        </p:nvSpPr>
        <p:spPr>
          <a:xfrm>
            <a:off x="713232" y="5614416"/>
            <a:ext cx="10789920" cy="274320"/>
          </a:xfrm>
          <a:prstGeom prst="rect">
            <a:avLst/>
          </a:prstGeom>
          <a:noFill/>
        </p:spPr>
        <p:txBody>
          <a:bodyPr wrap="square" lIns="22860" rIns="22860" tIns="13716" bIns="13716">
            <a:spAutoFit/>
          </a:bodyPr>
          <a:lstStyle/>
          <a:p>
            <a:pPr algn="l">
              <a:spcAft>
                <a:spcPts val="700"/>
              </a:spcAft>
              <a:defRPr sz="1500" b="0">
                <a:solidFill>
                  <a:srgbClr val="526477"/>
                </a:solidFill>
                <a:latin typeface="Arial"/>
              </a:defRPr>
            </a:pPr>
            <a:r>
              <a:t>Both policy and PD updates run at 20 Hz in this simplified implementation.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A transparent Gymnasium joint environment</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 model is small enough that we can inspect every observation, force balance, and integration step.”</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04 / 18</a:t>
            </a:r>
          </a:p>
        </p:txBody>
      </p:sp>
      <p:sp>
        <p:nvSpPr>
          <p:cNvPr id="9" name="Rounded Rectangle 8"/>
          <p:cNvSpPr/>
          <p:nvPr/>
        </p:nvSpPr>
        <p:spPr>
          <a:xfrm>
            <a:off x="658368" y="1600200"/>
            <a:ext cx="5486400" cy="3246120"/>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600200"/>
            <a:ext cx="64008" cy="324612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1755648"/>
            <a:ext cx="5120640" cy="502920"/>
          </a:xfrm>
          <a:prstGeom prst="rect">
            <a:avLst/>
          </a:prstGeom>
          <a:noFill/>
        </p:spPr>
        <p:txBody>
          <a:bodyPr wrap="square" lIns="22860" rIns="22860" tIns="13716" bIns="13716">
            <a:spAutoFit/>
          </a:bodyPr>
          <a:lstStyle/>
          <a:p>
            <a:pPr algn="l">
              <a:spcAft>
                <a:spcPts val="700"/>
              </a:spcAft>
              <a:defRPr sz="2300" b="1">
                <a:solidFill>
                  <a:srgbClr val="00746C"/>
                </a:solidFill>
                <a:latin typeface="Arial"/>
              </a:defRPr>
            </a:pPr>
            <a:r>
              <a:t>TRANSPARENT DYNAMICS</a:t>
            </a:r>
          </a:p>
        </p:txBody>
      </p:sp>
      <p:sp>
        <p:nvSpPr>
          <p:cNvPr id="12" name="TextBox 11"/>
          <p:cNvSpPr txBox="1"/>
          <p:nvPr/>
        </p:nvSpPr>
        <p:spPr>
          <a:xfrm>
            <a:off x="841247" y="2377440"/>
            <a:ext cx="5120640" cy="2377439"/>
          </a:xfrm>
          <a:prstGeom prst="rect">
            <a:avLst/>
          </a:prstGeom>
          <a:noFill/>
        </p:spPr>
        <p:txBody>
          <a:bodyPr wrap="square" lIns="22860" rIns="22860" tIns="13716" bIns="13716">
            <a:spAutoFit/>
          </a:bodyPr>
          <a:lstStyle/>
          <a:p>
            <a:pPr algn="l">
              <a:spcAft>
                <a:spcPts val="700"/>
              </a:spcAft>
              <a:defRPr sz="2200" b="0">
                <a:solidFill>
                  <a:srgbClr val="14283F"/>
                </a:solidFill>
                <a:latin typeface="Arial"/>
              </a:defRPr>
            </a:pPr>
            <a:r>
              <a:t>I · angular acceleration = τ − b · ω</a:t>
            </a:r>
          </a:p>
          <a:p>
            <a:pPr algn="l">
              <a:spcAft>
                <a:spcPts val="700"/>
              </a:spcAft>
              <a:defRPr sz="2200" b="0">
                <a:solidFill>
                  <a:srgbClr val="14283F"/>
                </a:solidFill>
                <a:latin typeface="Arial"/>
              </a:defRPr>
            </a:pPr>
          </a:p>
          <a:p>
            <a:pPr algn="l">
              <a:spcAft>
                <a:spcPts val="700"/>
              </a:spcAft>
              <a:defRPr sz="2200" b="0">
                <a:solidFill>
                  <a:srgbClr val="14283F"/>
                </a:solidFill>
                <a:latin typeface="Arial"/>
              </a:defRPr>
            </a:pPr>
            <a:r>
              <a:t>Semi-implicit Euler, Δt = 0.05 s:</a:t>
            </a:r>
          </a:p>
          <a:p>
            <a:pPr algn="l">
              <a:spcAft>
                <a:spcPts val="700"/>
              </a:spcAft>
              <a:defRPr sz="2200" b="0">
                <a:solidFill>
                  <a:srgbClr val="14283F"/>
                </a:solidFill>
                <a:latin typeface="Arial"/>
              </a:defRPr>
            </a:pPr>
            <a:r>
              <a:t>ωnext = ω + Δt(τ − bω) / I</a:t>
            </a:r>
          </a:p>
          <a:p>
            <a:pPr algn="l">
              <a:spcAft>
                <a:spcPts val="700"/>
              </a:spcAft>
              <a:defRPr sz="2200" b="0">
                <a:solidFill>
                  <a:srgbClr val="14283F"/>
                </a:solidFill>
                <a:latin typeface="Arial"/>
              </a:defRPr>
            </a:pPr>
            <a:r>
              <a:t>qnext = q + Δt · ωnext</a:t>
            </a:r>
          </a:p>
        </p:txBody>
      </p:sp>
      <p:sp>
        <p:nvSpPr>
          <p:cNvPr id="13" name="Rounded Rectangle 12"/>
          <p:cNvSpPr/>
          <p:nvPr/>
        </p:nvSpPr>
        <p:spPr>
          <a:xfrm>
            <a:off x="6400800" y="1600200"/>
            <a:ext cx="5120640" cy="3246120"/>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600200"/>
            <a:ext cx="64008" cy="32461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755648"/>
            <a:ext cx="4754879" cy="502920"/>
          </a:xfrm>
          <a:prstGeom prst="rect">
            <a:avLst/>
          </a:prstGeom>
          <a:noFill/>
        </p:spPr>
        <p:txBody>
          <a:bodyPr wrap="square" lIns="22860" rIns="22860" tIns="13716" bIns="13716">
            <a:spAutoFit/>
          </a:bodyPr>
          <a:lstStyle/>
          <a:p>
            <a:pPr algn="l">
              <a:spcAft>
                <a:spcPts val="700"/>
              </a:spcAft>
              <a:defRPr sz="2300" b="1">
                <a:solidFill>
                  <a:srgbClr val="0072B2"/>
                </a:solidFill>
                <a:latin typeface="Arial"/>
              </a:defRPr>
            </a:pPr>
            <a:r>
              <a:t>GYMNASIUM CONTRACT</a:t>
            </a:r>
          </a:p>
        </p:txBody>
      </p:sp>
      <p:sp>
        <p:nvSpPr>
          <p:cNvPr id="16" name="TextBox 15"/>
          <p:cNvSpPr txBox="1"/>
          <p:nvPr/>
        </p:nvSpPr>
        <p:spPr>
          <a:xfrm>
            <a:off x="6583680" y="2377440"/>
            <a:ext cx="4754879" cy="2377439"/>
          </a:xfrm>
          <a:prstGeom prst="rect">
            <a:avLst/>
          </a:prstGeom>
          <a:noFill/>
        </p:spPr>
        <p:txBody>
          <a:bodyPr wrap="square" lIns="22860" rIns="22860" tIns="13716" bIns="13716">
            <a:spAutoFit/>
          </a:bodyPr>
          <a:lstStyle/>
          <a:p>
            <a:pPr algn="l">
              <a:spcAft>
                <a:spcPts val="700"/>
              </a:spcAft>
              <a:defRPr sz="2100" b="0">
                <a:solidFill>
                  <a:srgbClr val="14283F"/>
                </a:solidFill>
                <a:latin typeface="Arial"/>
              </a:defRPr>
            </a:pPr>
            <a:r>
              <a:t>5 continuous observations</a:t>
            </a:r>
          </a:p>
          <a:p>
            <a:pPr algn="l">
              <a:spcAft>
                <a:spcPts val="700"/>
              </a:spcAft>
              <a:defRPr sz="2100" b="0">
                <a:solidFill>
                  <a:srgbClr val="14283F"/>
                </a:solidFill>
                <a:latin typeface="Arial"/>
              </a:defRPr>
            </a:pPr>
            <a:r>
              <a:t>1 bounded angle-target action</a:t>
            </a:r>
          </a:p>
          <a:p>
            <a:pPr algn="l">
              <a:spcAft>
                <a:spcPts val="700"/>
              </a:spcAft>
              <a:defRPr sz="2100" b="0">
                <a:solidFill>
                  <a:srgbClr val="14283F"/>
                </a:solidFill>
                <a:latin typeface="Arial"/>
              </a:defRPr>
            </a:pPr>
            <a:r>
              <a:t>100 steps = 5 simulated seconds</a:t>
            </a:r>
          </a:p>
          <a:p>
            <a:pPr algn="l">
              <a:spcAft>
                <a:spcPts val="700"/>
              </a:spcAft>
              <a:defRPr sz="2100" b="0">
                <a:solidFill>
                  <a:srgbClr val="14283F"/>
                </a:solidFill>
                <a:latin typeface="Arial"/>
              </a:defRPr>
            </a:pPr>
            <a:r>
              <a:t>Safety: |q| &gt; 2 rad or |ω| &gt; 12 rad/s</a:t>
            </a:r>
          </a:p>
        </p:txBody>
      </p:sp>
      <p:sp>
        <p:nvSpPr>
          <p:cNvPr id="17" name="TextBox 16"/>
          <p:cNvSpPr txBox="1"/>
          <p:nvPr/>
        </p:nvSpPr>
        <p:spPr>
          <a:xfrm>
            <a:off x="713232" y="5212080"/>
            <a:ext cx="10808208" cy="594360"/>
          </a:xfrm>
          <a:prstGeom prst="rect">
            <a:avLst/>
          </a:prstGeom>
          <a:noFill/>
        </p:spPr>
        <p:txBody>
          <a:bodyPr wrap="square" lIns="22860" rIns="22860" tIns="13716" bIns="13716">
            <a:spAutoFit/>
          </a:bodyPr>
          <a:lstStyle/>
          <a:p>
            <a:pPr algn="l">
              <a:spcAft>
                <a:spcPts val="700"/>
              </a:spcAft>
              <a:defRPr sz="1700" b="0">
                <a:solidFill>
                  <a:srgbClr val="14283F"/>
                </a:solidFill>
                <a:latin typeface="Consolas"/>
              </a:defRPr>
            </a:pPr>
            <a:r>
              <a:t>reset(seed) → observation, info       step(action) → observation, reward, terminated, truncated, info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Reward encourages tracking; success is predefined</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 reward guides learning; the fixed RMSE threshold judges the final behavior.”</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05 / 18</a:t>
            </a:r>
          </a:p>
        </p:txBody>
      </p:sp>
      <p:sp>
        <p:nvSpPr>
          <p:cNvPr id="9" name="Rounded Rectangle 8"/>
          <p:cNvSpPr/>
          <p:nvPr/>
        </p:nvSpPr>
        <p:spPr>
          <a:xfrm>
            <a:off x="676656" y="1627632"/>
            <a:ext cx="10835640" cy="98755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883664"/>
            <a:ext cx="10241280" cy="457200"/>
          </a:xfrm>
          <a:prstGeom prst="rect">
            <a:avLst/>
          </a:prstGeom>
          <a:noFill/>
        </p:spPr>
        <p:txBody>
          <a:bodyPr wrap="square" lIns="22860" rIns="22860" tIns="13716" bIns="13716">
            <a:spAutoFit/>
          </a:bodyPr>
          <a:lstStyle/>
          <a:p>
            <a:pPr algn="ctr">
              <a:spcAft>
                <a:spcPts val="700"/>
              </a:spcAft>
              <a:defRPr sz="3200" b="1">
                <a:solidFill>
                  <a:srgbClr val="00746C"/>
                </a:solidFill>
                <a:latin typeface="Arial"/>
              </a:defRPr>
            </a:pPr>
            <a:r>
              <a:t>reward = 1 − 5e² − 0.005ω² − 0.001τ²</a:t>
            </a:r>
          </a:p>
        </p:txBody>
      </p:sp>
      <p:sp>
        <p:nvSpPr>
          <p:cNvPr id="11" name="Rounded Rectangle 10"/>
          <p:cNvSpPr/>
          <p:nvPr/>
        </p:nvSpPr>
        <p:spPr>
          <a:xfrm>
            <a:off x="694944" y="2834640"/>
            <a:ext cx="3447288" cy="153619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4944" y="2834640"/>
            <a:ext cx="64008" cy="1536192"/>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990088"/>
            <a:ext cx="3081528" cy="502920"/>
          </a:xfrm>
          <a:prstGeom prst="rect">
            <a:avLst/>
          </a:prstGeom>
          <a:noFill/>
        </p:spPr>
        <p:txBody>
          <a:bodyPr wrap="square" lIns="22860" rIns="22860" tIns="13716" bIns="13716">
            <a:spAutoFit/>
          </a:bodyPr>
          <a:lstStyle/>
          <a:p>
            <a:pPr algn="l">
              <a:spcAft>
                <a:spcPts val="700"/>
              </a:spcAft>
              <a:defRPr sz="2000" b="1">
                <a:solidFill>
                  <a:srgbClr val="00746C"/>
                </a:solidFill>
                <a:latin typeface="Arial"/>
              </a:defRPr>
            </a:pPr>
            <a:r>
              <a:t>TRACKING ERROR</a:t>
            </a:r>
          </a:p>
        </p:txBody>
      </p:sp>
      <p:sp>
        <p:nvSpPr>
          <p:cNvPr id="14" name="TextBox 13"/>
          <p:cNvSpPr txBox="1"/>
          <p:nvPr/>
        </p:nvSpPr>
        <p:spPr>
          <a:xfrm>
            <a:off x="877824" y="3611880"/>
            <a:ext cx="3081528" cy="667512"/>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Follow the desired angle.</a:t>
            </a:r>
          </a:p>
        </p:txBody>
      </p:sp>
      <p:sp>
        <p:nvSpPr>
          <p:cNvPr id="15" name="Rounded Rectangle 14"/>
          <p:cNvSpPr/>
          <p:nvPr/>
        </p:nvSpPr>
        <p:spPr>
          <a:xfrm>
            <a:off x="4370832" y="2834640"/>
            <a:ext cx="3447288" cy="153619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0832" y="2834640"/>
            <a:ext cx="64008" cy="153619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2990088"/>
            <a:ext cx="3081528" cy="502920"/>
          </a:xfrm>
          <a:prstGeom prst="rect">
            <a:avLst/>
          </a:prstGeom>
          <a:noFill/>
        </p:spPr>
        <p:txBody>
          <a:bodyPr wrap="square" lIns="22860" rIns="22860" tIns="13716" bIns="13716">
            <a:spAutoFit/>
          </a:bodyPr>
          <a:lstStyle/>
          <a:p>
            <a:pPr algn="l">
              <a:spcAft>
                <a:spcPts val="700"/>
              </a:spcAft>
              <a:defRPr sz="2000" b="1">
                <a:solidFill>
                  <a:srgbClr val="0072B2"/>
                </a:solidFill>
                <a:latin typeface="Arial"/>
              </a:defRPr>
            </a:pPr>
            <a:r>
              <a:t>ANGULAR VELOCITY</a:t>
            </a:r>
          </a:p>
        </p:txBody>
      </p:sp>
      <p:sp>
        <p:nvSpPr>
          <p:cNvPr id="18" name="TextBox 17"/>
          <p:cNvSpPr txBox="1"/>
          <p:nvPr/>
        </p:nvSpPr>
        <p:spPr>
          <a:xfrm>
            <a:off x="4553712" y="3611880"/>
            <a:ext cx="3081528" cy="667512"/>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Discourage fast oscillations.</a:t>
            </a:r>
          </a:p>
        </p:txBody>
      </p:sp>
      <p:sp>
        <p:nvSpPr>
          <p:cNvPr id="19" name="Rounded Rectangle 18"/>
          <p:cNvSpPr/>
          <p:nvPr/>
        </p:nvSpPr>
        <p:spPr>
          <a:xfrm>
            <a:off x="8046720" y="2834640"/>
            <a:ext cx="3447288" cy="153619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2834640"/>
            <a:ext cx="64008" cy="1536192"/>
          </a:xfrm>
          <a:prstGeom prst="rect">
            <a:avLst/>
          </a:prstGeom>
          <a:solidFill>
            <a:srgbClr val="C65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2990088"/>
            <a:ext cx="3081528" cy="502920"/>
          </a:xfrm>
          <a:prstGeom prst="rect">
            <a:avLst/>
          </a:prstGeom>
          <a:noFill/>
        </p:spPr>
        <p:txBody>
          <a:bodyPr wrap="square" lIns="22860" rIns="22860" tIns="13716" bIns="13716">
            <a:spAutoFit/>
          </a:bodyPr>
          <a:lstStyle/>
          <a:p>
            <a:pPr algn="l">
              <a:spcAft>
                <a:spcPts val="700"/>
              </a:spcAft>
              <a:defRPr sz="2000" b="1">
                <a:solidFill>
                  <a:srgbClr val="C65924"/>
                </a:solidFill>
                <a:latin typeface="Arial"/>
              </a:defRPr>
            </a:pPr>
            <a:r>
              <a:t>TORQUE</a:t>
            </a:r>
          </a:p>
        </p:txBody>
      </p:sp>
      <p:sp>
        <p:nvSpPr>
          <p:cNvPr id="22" name="TextBox 21"/>
          <p:cNvSpPr txBox="1"/>
          <p:nvPr/>
        </p:nvSpPr>
        <p:spPr>
          <a:xfrm>
            <a:off x="8229600" y="3611880"/>
            <a:ext cx="3081528" cy="667512"/>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Limit excessive effort.</a:t>
            </a:r>
          </a:p>
        </p:txBody>
      </p:sp>
      <p:sp>
        <p:nvSpPr>
          <p:cNvPr id="23" name="TextBox 22"/>
          <p:cNvSpPr txBox="1"/>
          <p:nvPr/>
        </p:nvSpPr>
        <p:spPr>
          <a:xfrm>
            <a:off x="768096" y="4700016"/>
            <a:ext cx="10698480" cy="576072"/>
          </a:xfrm>
          <a:prstGeom prst="rect">
            <a:avLst/>
          </a:prstGeom>
          <a:noFill/>
        </p:spPr>
        <p:txBody>
          <a:bodyPr wrap="square" lIns="22860" rIns="22860" tIns="13716" bIns="13716">
            <a:spAutoFit/>
          </a:bodyPr>
          <a:lstStyle/>
          <a:p>
            <a:pPr algn="l">
              <a:spcAft>
                <a:spcPts val="700"/>
              </a:spcAft>
              <a:defRPr sz="2500" b="1">
                <a:solidFill>
                  <a:srgbClr val="14283F"/>
                </a:solidFill>
                <a:latin typeface="Arial"/>
              </a:defRPr>
            </a:pPr>
            <a:r>
              <a:t>Success: full 5 s episode, no safety termination, RMSE &lt; 0.32 rad</a:t>
            </a:r>
          </a:p>
        </p:txBody>
      </p:sp>
      <p:sp>
        <p:nvSpPr>
          <p:cNvPr id="24" name="TextBox 23"/>
          <p:cNvSpPr txBox="1"/>
          <p:nvPr/>
        </p:nvSpPr>
        <p:spPr>
          <a:xfrm>
            <a:off x="768096" y="5449824"/>
            <a:ext cx="10607040" cy="365760"/>
          </a:xfrm>
          <a:prstGeom prst="rect">
            <a:avLst/>
          </a:prstGeom>
          <a:noFill/>
        </p:spPr>
        <p:txBody>
          <a:bodyPr wrap="square" lIns="22860" rIns="22860" tIns="13716" bIns="13716">
            <a:spAutoFit/>
          </a:bodyPr>
          <a:lstStyle/>
          <a:p>
            <a:pPr algn="l">
              <a:spcAft>
                <a:spcPts val="700"/>
              </a:spcAft>
              <a:defRPr sz="1800" b="0">
                <a:solidFill>
                  <a:srgbClr val="526477"/>
                </a:solidFill>
                <a:latin typeface="Arial"/>
              </a:defRPr>
            </a:pPr>
            <a:r>
              <a:t>Threshold retained before training; 0.32 rad ≈ 18.3° is an educational tolerance.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Matched PPO training conditions</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“I changed the training physics distribution while keeping the other experimental choices consistent.”</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06 / 18</a:t>
            </a:r>
          </a:p>
        </p:txBody>
      </p:sp>
      <p:sp>
        <p:nvSpPr>
          <p:cNvPr id="9" name="Rounded Rectangle 8"/>
          <p:cNvSpPr/>
          <p:nvPr/>
        </p:nvSpPr>
        <p:spPr>
          <a:xfrm>
            <a:off x="667512" y="1618488"/>
            <a:ext cx="5413248" cy="3611880"/>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7512" y="1618488"/>
            <a:ext cx="64008" cy="361188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1773936"/>
            <a:ext cx="5047488" cy="502920"/>
          </a:xfrm>
          <a:prstGeom prst="rect">
            <a:avLst/>
          </a:prstGeom>
          <a:noFill/>
        </p:spPr>
        <p:txBody>
          <a:bodyPr wrap="square" lIns="22860" rIns="22860" tIns="13716" bIns="13716">
            <a:spAutoFit/>
          </a:bodyPr>
          <a:lstStyle/>
          <a:p>
            <a:pPr algn="l">
              <a:spcAft>
                <a:spcPts val="700"/>
              </a:spcAft>
              <a:defRPr sz="2300" b="1">
                <a:solidFill>
                  <a:srgbClr val="00746C"/>
                </a:solidFill>
                <a:latin typeface="Arial"/>
              </a:defRPr>
            </a:pPr>
            <a:r>
              <a:t>MATCHED PPO RECIPE</a:t>
            </a:r>
          </a:p>
        </p:txBody>
      </p:sp>
      <p:sp>
        <p:nvSpPr>
          <p:cNvPr id="12" name="TextBox 11"/>
          <p:cNvSpPr txBox="1"/>
          <p:nvPr/>
        </p:nvSpPr>
        <p:spPr>
          <a:xfrm>
            <a:off x="850392" y="2395728"/>
            <a:ext cx="5047488" cy="2743200"/>
          </a:xfrm>
          <a:prstGeom prst="rect">
            <a:avLst/>
          </a:prstGeom>
          <a:noFill/>
        </p:spPr>
        <p:txBody>
          <a:bodyPr wrap="square" lIns="22860" rIns="22860" tIns="13716" bIns="13716">
            <a:spAutoFit/>
          </a:bodyPr>
          <a:lstStyle/>
          <a:p>
            <a:pPr algn="l">
              <a:spcAft>
                <a:spcPts val="700"/>
              </a:spcAft>
              <a:defRPr sz="2200" b="0">
                <a:solidFill>
                  <a:srgbClr val="14283F"/>
                </a:solidFill>
                <a:latin typeface="Arial"/>
              </a:defRPr>
            </a:pPr>
            <a:r>
              <a:t>SB3 PPO • MLP [32, 32] • CPU</a:t>
            </a:r>
          </a:p>
          <a:p>
            <a:pPr algn="l">
              <a:spcAft>
                <a:spcPts val="700"/>
              </a:spcAft>
              <a:defRPr sz="2200" b="0">
                <a:solidFill>
                  <a:srgbClr val="14283F"/>
                </a:solidFill>
                <a:latin typeface="Arial"/>
              </a:defRPr>
            </a:pPr>
            <a:r>
              <a:t>12,288 timesteps per policy</a:t>
            </a:r>
          </a:p>
          <a:p>
            <a:pPr algn="l">
              <a:spcAft>
                <a:spcPts val="700"/>
              </a:spcAft>
              <a:defRPr sz="2200" b="0">
                <a:solidFill>
                  <a:srgbClr val="14283F"/>
                </a:solidFill>
                <a:latin typeface="Arial"/>
              </a:defRPr>
            </a:pPr>
            <a:r>
              <a:t>Rollout 256 • batch 64 • 5 epochs</a:t>
            </a:r>
          </a:p>
          <a:p>
            <a:pPr algn="l">
              <a:spcAft>
                <a:spcPts val="700"/>
              </a:spcAft>
              <a:defRPr sz="2200" b="0">
                <a:solidFill>
                  <a:srgbClr val="14283F"/>
                </a:solidFill>
                <a:latin typeface="Arial"/>
              </a:defRPr>
            </a:pPr>
            <a:r>
              <a:t>Learning rate 0.0008 • γ = 0.98</a:t>
            </a:r>
          </a:p>
          <a:p>
            <a:pPr algn="l">
              <a:spcAft>
                <a:spcPts val="700"/>
              </a:spcAft>
              <a:defRPr sz="2200" b="0">
                <a:solidFill>
                  <a:srgbClr val="14283F"/>
                </a:solidFill>
                <a:latin typeface="Arial"/>
              </a:defRPr>
            </a:pPr>
            <a:r>
              <a:t>Same reward, references, seed 42</a:t>
            </a:r>
          </a:p>
        </p:txBody>
      </p:sp>
      <p:sp>
        <p:nvSpPr>
          <p:cNvPr id="13" name="Rounded Rectangle 12"/>
          <p:cNvSpPr/>
          <p:nvPr/>
        </p:nvSpPr>
        <p:spPr>
          <a:xfrm>
            <a:off x="6345936" y="1618488"/>
            <a:ext cx="5166360" cy="3611880"/>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45936" y="1618488"/>
            <a:ext cx="64008" cy="3611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8816" y="1773936"/>
            <a:ext cx="4800600" cy="502920"/>
          </a:xfrm>
          <a:prstGeom prst="rect">
            <a:avLst/>
          </a:prstGeom>
          <a:noFill/>
        </p:spPr>
        <p:txBody>
          <a:bodyPr wrap="square" lIns="22860" rIns="22860" tIns="13716" bIns="13716">
            <a:spAutoFit/>
          </a:bodyPr>
          <a:lstStyle/>
          <a:p>
            <a:pPr algn="l">
              <a:spcAft>
                <a:spcPts val="700"/>
              </a:spcAft>
              <a:defRPr sz="2300" b="1">
                <a:solidFill>
                  <a:srgbClr val="0072B2"/>
                </a:solidFill>
                <a:latin typeface="Arial"/>
              </a:defRPr>
            </a:pPr>
            <a:r>
              <a:t>POLICY-GRADIENT CONNECTION</a:t>
            </a:r>
          </a:p>
        </p:txBody>
      </p:sp>
      <p:sp>
        <p:nvSpPr>
          <p:cNvPr id="16" name="TextBox 15"/>
          <p:cNvSpPr txBox="1"/>
          <p:nvPr/>
        </p:nvSpPr>
        <p:spPr>
          <a:xfrm>
            <a:off x="6528816" y="2395728"/>
            <a:ext cx="4800600" cy="2743200"/>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Sutton &amp; Barto: general foundations</a:t>
            </a:r>
          </a:p>
          <a:p>
            <a:pPr algn="l">
              <a:spcAft>
                <a:spcPts val="700"/>
              </a:spcAft>
              <a:defRPr sz="2000" b="0">
                <a:solidFill>
                  <a:srgbClr val="14283F"/>
                </a:solidFill>
                <a:latin typeface="Arial"/>
              </a:defRPr>
            </a:pPr>
          </a:p>
          <a:p>
            <a:pPr algn="l">
              <a:spcAft>
                <a:spcPts val="700"/>
              </a:spcAft>
              <a:defRPr sz="2000" b="0">
                <a:solidFill>
                  <a:srgbClr val="14283F"/>
                </a:solidFill>
                <a:latin typeface="Arial"/>
              </a:defRPr>
            </a:pPr>
            <a:r>
              <a:t>PPO: a specific actor–critic method</a:t>
            </a:r>
          </a:p>
          <a:p>
            <a:pPr algn="l">
              <a:spcAft>
                <a:spcPts val="700"/>
              </a:spcAft>
              <a:defRPr sz="2000" b="0">
                <a:solidFill>
                  <a:srgbClr val="14283F"/>
                </a:solidFill>
                <a:latin typeface="Arial"/>
              </a:defRPr>
            </a:pPr>
            <a:r>
              <a:t>with a clipped surrogate objective</a:t>
            </a:r>
          </a:p>
          <a:p>
            <a:pPr algn="l">
              <a:spcAft>
                <a:spcPts val="700"/>
              </a:spcAft>
              <a:defRPr sz="2000" b="0">
                <a:solidFill>
                  <a:srgbClr val="14283F"/>
                </a:solidFill>
                <a:latin typeface="Arial"/>
              </a:defRPr>
            </a:pPr>
          </a:p>
          <a:p>
            <a:pPr algn="l">
              <a:spcAft>
                <a:spcPts val="700"/>
              </a:spcAft>
              <a:defRPr sz="2000" b="0">
                <a:solidFill>
                  <a:srgbClr val="14283F"/>
                </a:solidFill>
                <a:latin typeface="Arial"/>
              </a:defRPr>
            </a:pPr>
            <a:r>
              <a:t>Training-ratio clipping ≠ torque saturation</a:t>
            </a:r>
          </a:p>
        </p:txBody>
      </p:sp>
      <p:sp>
        <p:nvSpPr>
          <p:cNvPr id="17" name="TextBox 16"/>
          <p:cNvSpPr txBox="1"/>
          <p:nvPr/>
        </p:nvSpPr>
        <p:spPr>
          <a:xfrm>
            <a:off x="749808" y="5513832"/>
            <a:ext cx="10698480" cy="384048"/>
          </a:xfrm>
          <a:prstGeom prst="rect">
            <a:avLst/>
          </a:prstGeom>
          <a:noFill/>
        </p:spPr>
        <p:txBody>
          <a:bodyPr wrap="square" lIns="22860" rIns="22860" tIns="13716" bIns="13716">
            <a:spAutoFit/>
          </a:bodyPr>
          <a:lstStyle/>
          <a:p>
            <a:pPr algn="l">
              <a:spcAft>
                <a:spcPts val="700"/>
              </a:spcAft>
              <a:defRPr sz="2300" b="1">
                <a:solidFill>
                  <a:srgbClr val="00746C"/>
                </a:solidFill>
                <a:latin typeface="Arial"/>
              </a:defRPr>
            </a:pPr>
            <a:r>
              <a:t>Experimental change: the distribution of training physics.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Nominal, randomized, and held-out physics</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“Randomization covers varied training joints; the held-out joint deliberately exceeds those ranges.”</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07 / 18</a:t>
            </a:r>
          </a:p>
        </p:txBody>
      </p:sp>
      <p:sp>
        <p:nvSpPr>
          <p:cNvPr id="9" name="Rectangle 8"/>
          <p:cNvSpPr/>
          <p:nvPr/>
        </p:nvSpPr>
        <p:spPr>
          <a:xfrm>
            <a:off x="676656" y="1755648"/>
            <a:ext cx="2971800" cy="65836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47088"/>
            <a:ext cx="2807208" cy="530352"/>
          </a:xfrm>
          <a:prstGeom prst="rect">
            <a:avLst/>
          </a:prstGeom>
          <a:noFill/>
        </p:spPr>
        <p:txBody>
          <a:bodyPr wrap="square" lIns="22860" rIns="22860" tIns="13716" bIns="13716">
            <a:spAutoFit/>
          </a:bodyPr>
          <a:lstStyle/>
          <a:p>
            <a:pPr algn="l">
              <a:spcAft>
                <a:spcPts val="700"/>
              </a:spcAft>
              <a:defRPr sz="2000" b="1">
                <a:solidFill>
                  <a:srgbClr val="FFFFFF"/>
                </a:solidFill>
                <a:latin typeface="Arial"/>
              </a:defRPr>
            </a:pPr>
            <a:r>
              <a:t>Condition</a:t>
            </a:r>
          </a:p>
        </p:txBody>
      </p:sp>
      <p:sp>
        <p:nvSpPr>
          <p:cNvPr id="11" name="Rectangle 10"/>
          <p:cNvSpPr/>
          <p:nvPr/>
        </p:nvSpPr>
        <p:spPr>
          <a:xfrm>
            <a:off x="3648456" y="1755648"/>
            <a:ext cx="2331720" cy="65836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9896" y="1847088"/>
            <a:ext cx="2167127" cy="530352"/>
          </a:xfrm>
          <a:prstGeom prst="rect">
            <a:avLst/>
          </a:prstGeom>
          <a:noFill/>
        </p:spPr>
        <p:txBody>
          <a:bodyPr wrap="square" lIns="22860" rIns="22860" tIns="13716" bIns="13716">
            <a:spAutoFit/>
          </a:bodyPr>
          <a:lstStyle/>
          <a:p>
            <a:pPr algn="l">
              <a:spcAft>
                <a:spcPts val="700"/>
              </a:spcAft>
              <a:defRPr sz="2000" b="1">
                <a:solidFill>
                  <a:srgbClr val="FFFFFF"/>
                </a:solidFill>
                <a:latin typeface="Arial"/>
              </a:defRPr>
            </a:pPr>
            <a:r>
              <a:t>Inertia scale</a:t>
            </a:r>
          </a:p>
        </p:txBody>
      </p:sp>
      <p:sp>
        <p:nvSpPr>
          <p:cNvPr id="13" name="Rectangle 12"/>
          <p:cNvSpPr/>
          <p:nvPr/>
        </p:nvSpPr>
        <p:spPr>
          <a:xfrm>
            <a:off x="5980176" y="1755648"/>
            <a:ext cx="2148840" cy="65836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71616" y="1847088"/>
            <a:ext cx="1984248" cy="530352"/>
          </a:xfrm>
          <a:prstGeom prst="rect">
            <a:avLst/>
          </a:prstGeom>
          <a:noFill/>
        </p:spPr>
        <p:txBody>
          <a:bodyPr wrap="square" lIns="22860" rIns="22860" tIns="13716" bIns="13716">
            <a:spAutoFit/>
          </a:bodyPr>
          <a:lstStyle/>
          <a:p>
            <a:pPr algn="l">
              <a:spcAft>
                <a:spcPts val="700"/>
              </a:spcAft>
              <a:defRPr sz="2000" b="1">
                <a:solidFill>
                  <a:srgbClr val="FFFFFF"/>
                </a:solidFill>
                <a:latin typeface="Arial"/>
              </a:defRPr>
            </a:pPr>
            <a:r>
              <a:t>Friction b</a:t>
            </a:r>
          </a:p>
        </p:txBody>
      </p:sp>
      <p:sp>
        <p:nvSpPr>
          <p:cNvPr id="15" name="Rectangle 14"/>
          <p:cNvSpPr/>
          <p:nvPr/>
        </p:nvSpPr>
        <p:spPr>
          <a:xfrm>
            <a:off x="8129016" y="1755648"/>
            <a:ext cx="3346704" cy="65836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1847088"/>
            <a:ext cx="3182112" cy="530352"/>
          </a:xfrm>
          <a:prstGeom prst="rect">
            <a:avLst/>
          </a:prstGeom>
          <a:noFill/>
        </p:spPr>
        <p:txBody>
          <a:bodyPr wrap="square" lIns="22860" rIns="22860" tIns="13716" bIns="13716">
            <a:spAutoFit/>
          </a:bodyPr>
          <a:lstStyle/>
          <a:p>
            <a:pPr algn="l">
              <a:spcAft>
                <a:spcPts val="700"/>
              </a:spcAft>
              <a:defRPr sz="2000" b="1">
                <a:solidFill>
                  <a:srgbClr val="FFFFFF"/>
                </a:solidFill>
                <a:latin typeface="Arial"/>
              </a:defRPr>
            </a:pPr>
            <a:r>
              <a:t>Target delay</a:t>
            </a:r>
          </a:p>
        </p:txBody>
      </p:sp>
      <p:sp>
        <p:nvSpPr>
          <p:cNvPr id="17" name="Rectangle 16"/>
          <p:cNvSpPr/>
          <p:nvPr/>
        </p:nvSpPr>
        <p:spPr>
          <a:xfrm>
            <a:off x="676656" y="2414015"/>
            <a:ext cx="2971800"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2505456"/>
            <a:ext cx="2807208"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Fixed / nominal</a:t>
            </a:r>
          </a:p>
        </p:txBody>
      </p:sp>
      <p:sp>
        <p:nvSpPr>
          <p:cNvPr id="19" name="Rectangle 18"/>
          <p:cNvSpPr/>
          <p:nvPr/>
        </p:nvSpPr>
        <p:spPr>
          <a:xfrm>
            <a:off x="3648456" y="2414015"/>
            <a:ext cx="2331720"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39896" y="2505456"/>
            <a:ext cx="2167127"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1.00</a:t>
            </a:r>
          </a:p>
        </p:txBody>
      </p:sp>
      <p:sp>
        <p:nvSpPr>
          <p:cNvPr id="21" name="Rectangle 20"/>
          <p:cNvSpPr/>
          <p:nvPr/>
        </p:nvSpPr>
        <p:spPr>
          <a:xfrm>
            <a:off x="5980176" y="2414015"/>
            <a:ext cx="2148840"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71616" y="2505456"/>
            <a:ext cx="1984248"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0.20</a:t>
            </a:r>
          </a:p>
        </p:txBody>
      </p:sp>
      <p:sp>
        <p:nvSpPr>
          <p:cNvPr id="23" name="Rectangle 22"/>
          <p:cNvSpPr/>
          <p:nvPr/>
        </p:nvSpPr>
        <p:spPr>
          <a:xfrm>
            <a:off x="8129016" y="2414015"/>
            <a:ext cx="3346704"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0456" y="2505456"/>
            <a:ext cx="3182112"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0 ms</a:t>
            </a:r>
          </a:p>
        </p:txBody>
      </p:sp>
      <p:sp>
        <p:nvSpPr>
          <p:cNvPr id="25" name="Rectangle 24"/>
          <p:cNvSpPr/>
          <p:nvPr/>
        </p:nvSpPr>
        <p:spPr>
          <a:xfrm>
            <a:off x="676656" y="3072384"/>
            <a:ext cx="29718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163824"/>
            <a:ext cx="2807208"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Randomized training</a:t>
            </a:r>
          </a:p>
        </p:txBody>
      </p:sp>
      <p:sp>
        <p:nvSpPr>
          <p:cNvPr id="27" name="Rectangle 26"/>
          <p:cNvSpPr/>
          <p:nvPr/>
        </p:nvSpPr>
        <p:spPr>
          <a:xfrm>
            <a:off x="3648456" y="3072384"/>
            <a:ext cx="23317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39896" y="3163824"/>
            <a:ext cx="2167127"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U(0.70, 1.80)</a:t>
            </a:r>
          </a:p>
        </p:txBody>
      </p:sp>
      <p:sp>
        <p:nvSpPr>
          <p:cNvPr id="29" name="Rectangle 28"/>
          <p:cNvSpPr/>
          <p:nvPr/>
        </p:nvSpPr>
        <p:spPr>
          <a:xfrm>
            <a:off x="5980176" y="3072384"/>
            <a:ext cx="214884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71616" y="3163824"/>
            <a:ext cx="1984248"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U(0.10, 0.65)</a:t>
            </a:r>
          </a:p>
        </p:txBody>
      </p:sp>
      <p:sp>
        <p:nvSpPr>
          <p:cNvPr id="31" name="Rectangle 30"/>
          <p:cNvSpPr/>
          <p:nvPr/>
        </p:nvSpPr>
        <p:spPr>
          <a:xfrm>
            <a:off x="8129016" y="3072384"/>
            <a:ext cx="3346704"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3163824"/>
            <a:ext cx="3182112"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0, 50, 100, 150 ms</a:t>
            </a:r>
          </a:p>
        </p:txBody>
      </p:sp>
      <p:sp>
        <p:nvSpPr>
          <p:cNvPr id="33" name="Rectangle 32"/>
          <p:cNvSpPr/>
          <p:nvPr/>
        </p:nvSpPr>
        <p:spPr>
          <a:xfrm>
            <a:off x="676656" y="3730752"/>
            <a:ext cx="2971800"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3822191"/>
            <a:ext cx="2807208"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Held-out simulation</a:t>
            </a:r>
          </a:p>
        </p:txBody>
      </p:sp>
      <p:sp>
        <p:nvSpPr>
          <p:cNvPr id="35" name="Rectangle 34"/>
          <p:cNvSpPr/>
          <p:nvPr/>
        </p:nvSpPr>
        <p:spPr>
          <a:xfrm>
            <a:off x="3648456" y="3730752"/>
            <a:ext cx="2331720"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39896" y="3822191"/>
            <a:ext cx="2167127"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1.95</a:t>
            </a:r>
          </a:p>
        </p:txBody>
      </p:sp>
      <p:sp>
        <p:nvSpPr>
          <p:cNvPr id="37" name="Rectangle 36"/>
          <p:cNvSpPr/>
          <p:nvPr/>
        </p:nvSpPr>
        <p:spPr>
          <a:xfrm>
            <a:off x="5980176" y="3730752"/>
            <a:ext cx="2148840"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71616" y="3822191"/>
            <a:ext cx="1984248"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0.75</a:t>
            </a:r>
          </a:p>
        </p:txBody>
      </p:sp>
      <p:sp>
        <p:nvSpPr>
          <p:cNvPr id="39" name="Rectangle 38"/>
          <p:cNvSpPr/>
          <p:nvPr/>
        </p:nvSpPr>
        <p:spPr>
          <a:xfrm>
            <a:off x="8129016" y="3730752"/>
            <a:ext cx="3346704"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0456" y="3822191"/>
            <a:ext cx="3182112" cy="53035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200 ms</a:t>
            </a:r>
          </a:p>
        </p:txBody>
      </p:sp>
      <p:sp>
        <p:nvSpPr>
          <p:cNvPr id="41" name="TextBox 40"/>
          <p:cNvSpPr txBox="1"/>
          <p:nvPr/>
        </p:nvSpPr>
        <p:spPr>
          <a:xfrm>
            <a:off x="768096" y="4608576"/>
            <a:ext cx="10789920" cy="411480"/>
          </a:xfrm>
          <a:prstGeom prst="rect">
            <a:avLst/>
          </a:prstGeom>
          <a:noFill/>
        </p:spPr>
        <p:txBody>
          <a:bodyPr wrap="square" lIns="22860" rIns="22860" tIns="13716" bIns="13716">
            <a:spAutoFit/>
          </a:bodyPr>
          <a:lstStyle/>
          <a:p>
            <a:pPr algn="l">
              <a:spcAft>
                <a:spcPts val="700"/>
              </a:spcAft>
              <a:defRPr sz="2300" b="1">
                <a:solidFill>
                  <a:srgbClr val="00746C"/>
                </a:solidFill>
                <a:latin typeface="Arial"/>
              </a:defRPr>
            </a:pPr>
            <a:r>
              <a:t>Randomize at every reset; keep each episode’s physics constant.</a:t>
            </a:r>
          </a:p>
        </p:txBody>
      </p:sp>
      <p:sp>
        <p:nvSpPr>
          <p:cNvPr id="42" name="TextBox 41"/>
          <p:cNvSpPr txBox="1"/>
          <p:nvPr/>
        </p:nvSpPr>
        <p:spPr>
          <a:xfrm>
            <a:off x="768096" y="5148072"/>
            <a:ext cx="10698480" cy="658368"/>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Sensor SD: training / nominal = 0.005 rad, 0.02 rad/s</a:t>
            </a:r>
          </a:p>
          <a:p>
            <a:pPr algn="l">
              <a:spcAft>
                <a:spcPts val="700"/>
              </a:spcAft>
              <a:defRPr sz="1900" b="0">
                <a:solidFill>
                  <a:srgbClr val="14283F"/>
                </a:solidFill>
                <a:latin typeface="Arial"/>
              </a:defRPr>
            </a:pPr>
            <a:r>
              <a:t>Held-out = 0.045 rad, 0.09 rad/s; noise affects policy and PD.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From readable code to auditable deliverables</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 files connect environment design, actual learning, evaluation, and evidence that another student can check.”</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08 / 18</a:t>
            </a:r>
          </a:p>
        </p:txBody>
      </p:sp>
      <p:sp>
        <p:nvSpPr>
          <p:cNvPr id="9" name="Rectangle 8"/>
          <p:cNvSpPr/>
          <p:nvPr/>
        </p:nvSpPr>
        <p:spPr>
          <a:xfrm>
            <a:off x="676656" y="1618488"/>
            <a:ext cx="3794760" cy="6400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709928"/>
            <a:ext cx="3630168" cy="512063"/>
          </a:xfrm>
          <a:prstGeom prst="rect">
            <a:avLst/>
          </a:prstGeom>
          <a:noFill/>
        </p:spPr>
        <p:txBody>
          <a:bodyPr wrap="square" lIns="22860" rIns="22860" tIns="13716" bIns="13716">
            <a:spAutoFit/>
          </a:bodyPr>
          <a:lstStyle/>
          <a:p>
            <a:pPr algn="l">
              <a:spcAft>
                <a:spcPts val="700"/>
              </a:spcAft>
              <a:defRPr sz="1900" b="1">
                <a:solidFill>
                  <a:srgbClr val="FFFFFF"/>
                </a:solidFill>
                <a:latin typeface="Arial"/>
              </a:defRPr>
            </a:pPr>
            <a:r>
              <a:t>Code or artifact</a:t>
            </a:r>
          </a:p>
        </p:txBody>
      </p:sp>
      <p:sp>
        <p:nvSpPr>
          <p:cNvPr id="11" name="Rectangle 10"/>
          <p:cNvSpPr/>
          <p:nvPr/>
        </p:nvSpPr>
        <p:spPr>
          <a:xfrm>
            <a:off x="4471416" y="1618488"/>
            <a:ext cx="7004304" cy="6400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2856" y="1709928"/>
            <a:ext cx="6839712" cy="512063"/>
          </a:xfrm>
          <a:prstGeom prst="rect">
            <a:avLst/>
          </a:prstGeom>
          <a:noFill/>
        </p:spPr>
        <p:txBody>
          <a:bodyPr wrap="square" lIns="22860" rIns="22860" tIns="13716" bIns="13716">
            <a:spAutoFit/>
          </a:bodyPr>
          <a:lstStyle/>
          <a:p>
            <a:pPr algn="l">
              <a:spcAft>
                <a:spcPts val="700"/>
              </a:spcAft>
              <a:defRPr sz="1900" b="1">
                <a:solidFill>
                  <a:srgbClr val="FFFFFF"/>
                </a:solidFill>
                <a:latin typeface="Arial"/>
              </a:defRPr>
            </a:pPr>
            <a:r>
              <a:t>Purpose</a:t>
            </a:r>
          </a:p>
        </p:txBody>
      </p:sp>
      <p:sp>
        <p:nvSpPr>
          <p:cNvPr id="13" name="Rectangle 12"/>
          <p:cNvSpPr/>
          <p:nvPr/>
        </p:nvSpPr>
        <p:spPr>
          <a:xfrm>
            <a:off x="676656" y="2258568"/>
            <a:ext cx="3794760" cy="64008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50008"/>
            <a:ext cx="3630168"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Joint / check_env()</a:t>
            </a:r>
          </a:p>
        </p:txBody>
      </p:sp>
      <p:sp>
        <p:nvSpPr>
          <p:cNvPr id="15" name="Rectangle 14"/>
          <p:cNvSpPr/>
          <p:nvPr/>
        </p:nvSpPr>
        <p:spPr>
          <a:xfrm>
            <a:off x="4471416" y="2258568"/>
            <a:ext cx="7004304" cy="64008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350008"/>
            <a:ext cx="6839712"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Physical model, API, and environment validation</a:t>
            </a:r>
          </a:p>
        </p:txBody>
      </p:sp>
      <p:sp>
        <p:nvSpPr>
          <p:cNvPr id="17" name="Rectangle 16"/>
          <p:cNvSpPr/>
          <p:nvPr/>
        </p:nvSpPr>
        <p:spPr>
          <a:xfrm>
            <a:off x="676656" y="2898648"/>
            <a:ext cx="379476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2990088"/>
            <a:ext cx="3630168"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train() + policy_*.zip</a:t>
            </a:r>
          </a:p>
        </p:txBody>
      </p:sp>
      <p:sp>
        <p:nvSpPr>
          <p:cNvPr id="19" name="Rectangle 18"/>
          <p:cNvSpPr/>
          <p:nvPr/>
        </p:nvSpPr>
        <p:spPr>
          <a:xfrm>
            <a:off x="4471416" y="2898648"/>
            <a:ext cx="7004304"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2856" y="2990088"/>
            <a:ext cx="6839712"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Two matched PPO training runs and saved controllers</a:t>
            </a:r>
          </a:p>
        </p:txBody>
      </p:sp>
      <p:sp>
        <p:nvSpPr>
          <p:cNvPr id="21" name="Rectangle 20"/>
          <p:cNvSpPr/>
          <p:nvPr/>
        </p:nvSpPr>
        <p:spPr>
          <a:xfrm>
            <a:off x="676656" y="3538727"/>
            <a:ext cx="3794760" cy="64008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630168"/>
            <a:ext cx="3630168"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roll() / summarize()</a:t>
            </a:r>
          </a:p>
        </p:txBody>
      </p:sp>
      <p:sp>
        <p:nvSpPr>
          <p:cNvPr id="23" name="Rectangle 22"/>
          <p:cNvSpPr/>
          <p:nvPr/>
        </p:nvSpPr>
        <p:spPr>
          <a:xfrm>
            <a:off x="4471416" y="3538727"/>
            <a:ext cx="7004304" cy="64008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2856" y="3630168"/>
            <a:ext cx="6839712"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Paired evaluations and reproducible statistics</a:t>
            </a:r>
          </a:p>
        </p:txBody>
      </p:sp>
      <p:sp>
        <p:nvSpPr>
          <p:cNvPr id="25" name="Rectangle 24"/>
          <p:cNvSpPr/>
          <p:nvPr/>
        </p:nvSpPr>
        <p:spPr>
          <a:xfrm>
            <a:off x="676656" y="4178808"/>
            <a:ext cx="379476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270248"/>
            <a:ext cx="3630168"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figures() + three PNGs</a:t>
            </a:r>
          </a:p>
        </p:txBody>
      </p:sp>
      <p:sp>
        <p:nvSpPr>
          <p:cNvPr id="27" name="Rectangle 26"/>
          <p:cNvSpPr/>
          <p:nvPr/>
        </p:nvSpPr>
        <p:spPr>
          <a:xfrm>
            <a:off x="4471416" y="4178808"/>
            <a:ext cx="7004304"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856" y="4270248"/>
            <a:ext cx="6839712"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Recorded learning, tracking, and success</a:t>
            </a:r>
          </a:p>
        </p:txBody>
      </p:sp>
      <p:sp>
        <p:nvSpPr>
          <p:cNvPr id="29" name="Rectangle 28"/>
          <p:cNvSpPr/>
          <p:nvPr/>
        </p:nvSpPr>
        <p:spPr>
          <a:xfrm>
            <a:off x="676656" y="4818888"/>
            <a:ext cx="3794760" cy="64008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4910327"/>
            <a:ext cx="3630168"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CSVs + tests + README</a:t>
            </a:r>
          </a:p>
        </p:txBody>
      </p:sp>
      <p:sp>
        <p:nvSpPr>
          <p:cNvPr id="31" name="Rectangle 30"/>
          <p:cNvSpPr/>
          <p:nvPr/>
        </p:nvSpPr>
        <p:spPr>
          <a:xfrm>
            <a:off x="4471416" y="4818888"/>
            <a:ext cx="7004304" cy="64008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62856" y="4910327"/>
            <a:ext cx="6839712" cy="512063"/>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Audit trail, installation, and limitations</a:t>
            </a:r>
          </a:p>
        </p:txBody>
      </p:sp>
      <p:sp>
        <p:nvSpPr>
          <p:cNvPr id="33" name="TextBox 32"/>
          <p:cNvSpPr txBox="1"/>
          <p:nvPr/>
        </p:nvSpPr>
        <p:spPr>
          <a:xfrm>
            <a:off x="768096" y="5605272"/>
            <a:ext cx="10698480" cy="274320"/>
          </a:xfrm>
          <a:prstGeom prst="rect">
            <a:avLst/>
          </a:prstGeom>
          <a:noFill/>
        </p:spPr>
        <p:txBody>
          <a:bodyPr wrap="square" lIns="22860" rIns="22860" tIns="13716" bIns="13716">
            <a:spAutoFit/>
          </a:bodyPr>
          <a:lstStyle/>
          <a:p>
            <a:pPr algn="l">
              <a:spcAft>
                <a:spcPts val="700"/>
              </a:spcAft>
              <a:defRPr sz="1600" b="0">
                <a:solidFill>
                  <a:srgbClr val="00746C"/>
                </a:solidFill>
                <a:latin typeface="Arial"/>
              </a:defRPr>
            </a:pPr>
            <a:r>
              <a:t>The classroom helper reuses saved models and writes into classroom/demo_runs/.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What the recorded training rewards show</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“These are actual training returns; the randomized policy is learning across a harder range of conditions.”</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09 / 18</a:t>
            </a:r>
          </a:p>
        </p:txBody>
      </p:sp>
      <p:pic>
        <p:nvPicPr>
          <p:cNvPr id="9" name="Picture 8" descr="training_for_slides.png"/>
          <p:cNvPicPr>
            <a:picLocks noChangeAspect="1"/>
          </p:cNvPicPr>
          <p:nvPr/>
        </p:nvPicPr>
        <p:blipFill>
          <a:blip r:embed="rId3"/>
          <a:stretch>
            <a:fillRect/>
          </a:stretch>
        </p:blipFill>
        <p:spPr>
          <a:xfrm>
            <a:off x="530352" y="1435608"/>
            <a:ext cx="11109960" cy="4188279"/>
          </a:xfrm>
          <a:prstGeom prst="rect">
            <a:avLst/>
          </a:prstGeom>
        </p:spPr>
      </p:pic>
      <p:sp>
        <p:nvSpPr>
          <p:cNvPr id="10" name="TextBox 9"/>
          <p:cNvSpPr txBox="1"/>
          <p:nvPr/>
        </p:nvSpPr>
        <p:spPr>
          <a:xfrm>
            <a:off x="758952" y="5724144"/>
            <a:ext cx="10789920" cy="228600"/>
          </a:xfrm>
          <a:prstGeom prst="rect">
            <a:avLst/>
          </a:prstGeom>
          <a:noFill/>
        </p:spPr>
        <p:txBody>
          <a:bodyPr wrap="square" lIns="22860" rIns="22860" tIns="13716" bIns="13716">
            <a:spAutoFit/>
          </a:bodyPr>
          <a:lstStyle/>
          <a:p>
            <a:pPr algn="l">
              <a:spcAft>
                <a:spcPts val="700"/>
              </a:spcAft>
              <a:defRPr sz="1400" b="0">
                <a:solidFill>
                  <a:srgbClr val="526477"/>
                </a:solidFill>
                <a:latin typeface="Arial"/>
              </a:defRPr>
            </a:pPr>
            <a:r>
              <a:t>Faint: actual episode returns  •  Bold: trailing 10-episode mean  •  Different training physics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Evaluation: 30 matched trials per condition</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 policies face matching trajectories and initial conditions, and every trial is saved.”</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10 / 18</a:t>
            </a:r>
          </a:p>
        </p:txBody>
      </p:sp>
      <p:sp>
        <p:nvSpPr>
          <p:cNvPr id="9" name="Rounded Rectangle 8"/>
          <p:cNvSpPr/>
          <p:nvPr/>
        </p:nvSpPr>
        <p:spPr>
          <a:xfrm>
            <a:off x="694944" y="1691640"/>
            <a:ext cx="3456432" cy="2852928"/>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691640"/>
            <a:ext cx="64008" cy="2852928"/>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847088"/>
            <a:ext cx="3090672" cy="502920"/>
          </a:xfrm>
          <a:prstGeom prst="rect">
            <a:avLst/>
          </a:prstGeom>
          <a:noFill/>
        </p:spPr>
        <p:txBody>
          <a:bodyPr wrap="square" lIns="22860" rIns="22860" tIns="13716" bIns="13716">
            <a:spAutoFit/>
          </a:bodyPr>
          <a:lstStyle/>
          <a:p>
            <a:pPr algn="l">
              <a:spcAft>
                <a:spcPts val="700"/>
              </a:spcAft>
              <a:defRPr sz="2300" b="1">
                <a:solidFill>
                  <a:srgbClr val="00746C"/>
                </a:solidFill>
                <a:latin typeface="Arial"/>
              </a:defRPr>
            </a:pPr>
            <a:r>
              <a:t>30 MATCHED SEEDS</a:t>
            </a:r>
          </a:p>
        </p:txBody>
      </p:sp>
      <p:sp>
        <p:nvSpPr>
          <p:cNvPr id="12" name="TextBox 11"/>
          <p:cNvSpPr txBox="1"/>
          <p:nvPr/>
        </p:nvSpPr>
        <p:spPr>
          <a:xfrm>
            <a:off x="877824" y="2468880"/>
            <a:ext cx="3090672" cy="1984248"/>
          </a:xfrm>
          <a:prstGeom prst="rect">
            <a:avLst/>
          </a:prstGeom>
          <a:noFill/>
        </p:spPr>
        <p:txBody>
          <a:bodyPr wrap="square" lIns="22860" rIns="22860" tIns="13716" bIns="13716">
            <a:spAutoFit/>
          </a:bodyPr>
          <a:lstStyle/>
          <a:p>
            <a:pPr algn="l">
              <a:spcAft>
                <a:spcPts val="700"/>
              </a:spcAft>
              <a:defRPr sz="2100" b="0">
                <a:solidFill>
                  <a:srgbClr val="14283F"/>
                </a:solidFill>
                <a:latin typeface="Arial"/>
              </a:defRPr>
            </a:pPr>
            <a:r>
              <a:t>1000–1029</a:t>
            </a:r>
          </a:p>
          <a:p>
            <a:pPr algn="l">
              <a:spcAft>
                <a:spcPts val="700"/>
              </a:spcAft>
              <a:defRPr sz="2100" b="0">
                <a:solidFill>
                  <a:srgbClr val="14283F"/>
                </a:solidFill>
                <a:latin typeface="Arial"/>
              </a:defRPr>
            </a:pPr>
            <a:r>
              <a:t>Same reference + initial state</a:t>
            </a:r>
          </a:p>
          <a:p>
            <a:pPr algn="l">
              <a:spcAft>
                <a:spcPts val="700"/>
              </a:spcAft>
              <a:defRPr sz="2100" b="0">
                <a:solidFill>
                  <a:srgbClr val="14283F"/>
                </a:solidFill>
                <a:latin typeface="Arial"/>
              </a:defRPr>
            </a:pPr>
            <a:r>
              <a:t>Same underlying noise draws</a:t>
            </a:r>
          </a:p>
        </p:txBody>
      </p:sp>
      <p:sp>
        <p:nvSpPr>
          <p:cNvPr id="13" name="Rounded Rectangle 12"/>
          <p:cNvSpPr/>
          <p:nvPr/>
        </p:nvSpPr>
        <p:spPr>
          <a:xfrm>
            <a:off x="4370832" y="1691640"/>
            <a:ext cx="3456432" cy="2852928"/>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1691640"/>
            <a:ext cx="64008" cy="285292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1847088"/>
            <a:ext cx="3090672" cy="502920"/>
          </a:xfrm>
          <a:prstGeom prst="rect">
            <a:avLst/>
          </a:prstGeom>
          <a:noFill/>
        </p:spPr>
        <p:txBody>
          <a:bodyPr wrap="square" lIns="22860" rIns="22860" tIns="13716" bIns="13716">
            <a:spAutoFit/>
          </a:bodyPr>
          <a:lstStyle/>
          <a:p>
            <a:pPr algn="l">
              <a:spcAft>
                <a:spcPts val="700"/>
              </a:spcAft>
              <a:defRPr sz="2300" b="1">
                <a:solidFill>
                  <a:srgbClr val="0072B2"/>
                </a:solidFill>
                <a:latin typeface="Arial"/>
              </a:defRPr>
            </a:pPr>
            <a:r>
              <a:t>120 EPISODES</a:t>
            </a:r>
          </a:p>
        </p:txBody>
      </p:sp>
      <p:sp>
        <p:nvSpPr>
          <p:cNvPr id="16" name="TextBox 15"/>
          <p:cNvSpPr txBox="1"/>
          <p:nvPr/>
        </p:nvSpPr>
        <p:spPr>
          <a:xfrm>
            <a:off x="4553712" y="2468880"/>
            <a:ext cx="3090672" cy="1984248"/>
          </a:xfrm>
          <a:prstGeom prst="rect">
            <a:avLst/>
          </a:prstGeom>
          <a:noFill/>
        </p:spPr>
        <p:txBody>
          <a:bodyPr wrap="square" lIns="22860" rIns="22860" tIns="13716" bIns="13716">
            <a:spAutoFit/>
          </a:bodyPr>
          <a:lstStyle/>
          <a:p>
            <a:pPr algn="l">
              <a:spcAft>
                <a:spcPts val="700"/>
              </a:spcAft>
              <a:defRPr sz="2100" b="0">
                <a:solidFill>
                  <a:srgbClr val="14283F"/>
                </a:solidFill>
                <a:latin typeface="Arial"/>
              </a:defRPr>
            </a:pPr>
            <a:r>
              <a:t>2 policies × 2 environments</a:t>
            </a:r>
          </a:p>
          <a:p>
            <a:pPr algn="l">
              <a:spcAft>
                <a:spcPts val="700"/>
              </a:spcAft>
              <a:defRPr sz="2100" b="0">
                <a:solidFill>
                  <a:srgbClr val="14283F"/>
                </a:solidFill>
                <a:latin typeface="Arial"/>
              </a:defRPr>
            </a:pPr>
            <a:r>
              <a:t>× 30 episodes</a:t>
            </a:r>
          </a:p>
          <a:p>
            <a:pPr algn="l">
              <a:spcAft>
                <a:spcPts val="700"/>
              </a:spcAft>
              <a:defRPr sz="2100" b="0">
                <a:solidFill>
                  <a:srgbClr val="14283F"/>
                </a:solidFill>
                <a:latin typeface="Arial"/>
              </a:defRPr>
            </a:pPr>
            <a:r>
              <a:t>Deterministic evaluation</a:t>
            </a:r>
          </a:p>
        </p:txBody>
      </p:sp>
      <p:sp>
        <p:nvSpPr>
          <p:cNvPr id="17" name="Rounded Rectangle 16"/>
          <p:cNvSpPr/>
          <p:nvPr/>
        </p:nvSpPr>
        <p:spPr>
          <a:xfrm>
            <a:off x="8046720" y="1691640"/>
            <a:ext cx="3456432" cy="2852928"/>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691640"/>
            <a:ext cx="64008" cy="2852928"/>
          </a:xfrm>
          <a:prstGeom prst="rect">
            <a:avLst/>
          </a:prstGeom>
          <a:solidFill>
            <a:srgbClr val="C65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847088"/>
            <a:ext cx="3090672" cy="502920"/>
          </a:xfrm>
          <a:prstGeom prst="rect">
            <a:avLst/>
          </a:prstGeom>
          <a:noFill/>
        </p:spPr>
        <p:txBody>
          <a:bodyPr wrap="square" lIns="22860" rIns="22860" tIns="13716" bIns="13716">
            <a:spAutoFit/>
          </a:bodyPr>
          <a:lstStyle/>
          <a:p>
            <a:pPr algn="l">
              <a:spcAft>
                <a:spcPts val="700"/>
              </a:spcAft>
              <a:defRPr sz="2300" b="1">
                <a:solidFill>
                  <a:srgbClr val="C65924"/>
                </a:solidFill>
                <a:latin typeface="Arial"/>
              </a:defRPr>
            </a:pPr>
            <a:r>
              <a:t>AUDITABLE METRICS</a:t>
            </a:r>
          </a:p>
        </p:txBody>
      </p:sp>
      <p:sp>
        <p:nvSpPr>
          <p:cNvPr id="20" name="TextBox 19"/>
          <p:cNvSpPr txBox="1"/>
          <p:nvPr/>
        </p:nvSpPr>
        <p:spPr>
          <a:xfrm>
            <a:off x="8229600" y="2468880"/>
            <a:ext cx="3090672" cy="1984248"/>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Reward and RMSE: mean ± SD</a:t>
            </a:r>
          </a:p>
          <a:p>
            <a:pPr algn="l">
              <a:spcAft>
                <a:spcPts val="700"/>
              </a:spcAft>
              <a:defRPr sz="2000" b="0">
                <a:solidFill>
                  <a:srgbClr val="14283F"/>
                </a:solidFill>
                <a:latin typeface="Arial"/>
              </a:defRPr>
            </a:pPr>
            <a:r>
              <a:t>Success: percentage</a:t>
            </a:r>
          </a:p>
          <a:p>
            <a:pPr algn="l">
              <a:spcAft>
                <a:spcPts val="700"/>
              </a:spcAft>
              <a:defRPr sz="2000" b="0">
                <a:solidFill>
                  <a:srgbClr val="14283F"/>
                </a:solidFill>
                <a:latin typeface="Arial"/>
              </a:defRPr>
            </a:pPr>
            <a:r>
              <a:t>95% Wilson intervals</a:t>
            </a:r>
          </a:p>
        </p:txBody>
      </p:sp>
      <p:sp>
        <p:nvSpPr>
          <p:cNvPr id="21" name="TextBox 20"/>
          <p:cNvSpPr txBox="1"/>
          <p:nvPr/>
        </p:nvSpPr>
        <p:spPr>
          <a:xfrm>
            <a:off x="749808" y="5020056"/>
            <a:ext cx="10835640" cy="685800"/>
          </a:xfrm>
          <a:prstGeom prst="rect">
            <a:avLst/>
          </a:prstGeom>
          <a:noFill/>
        </p:spPr>
        <p:txBody>
          <a:bodyPr wrap="square" lIns="22860" rIns="22860" tIns="13716" bIns="13716">
            <a:spAutoFit/>
          </a:bodyPr>
          <a:lstStyle/>
          <a:p>
            <a:pPr algn="l">
              <a:spcAft>
                <a:spcPts val="700"/>
              </a:spcAft>
              <a:defRPr sz="2400" b="1">
                <a:solidFill>
                  <a:srgbClr val="14283F"/>
                </a:solidFill>
                <a:latin typeface="Arial"/>
              </a:defRPr>
            </a:pPr>
            <a:r>
              <a:t>The 30 evaluation seeds vary trials; there is only one training seed per policy.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Held-out tracking: one matched example</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“This preselected trial shows tracking behavior; the full thirty-trial evaluation supports the overall comparison.”</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11 / 18</a:t>
            </a:r>
          </a:p>
        </p:txBody>
      </p:sp>
      <p:pic>
        <p:nvPicPr>
          <p:cNvPr id="9" name="Picture 8" descr="tracking_for_slides.png"/>
          <p:cNvPicPr>
            <a:picLocks noChangeAspect="1"/>
          </p:cNvPicPr>
          <p:nvPr/>
        </p:nvPicPr>
        <p:blipFill>
          <a:blip r:embed="rId3"/>
          <a:stretch>
            <a:fillRect/>
          </a:stretch>
        </p:blipFill>
        <p:spPr>
          <a:xfrm>
            <a:off x="530352" y="1536192"/>
            <a:ext cx="11109960" cy="3791494"/>
          </a:xfrm>
          <a:prstGeom prst="rect">
            <a:avLst/>
          </a:prstGeom>
        </p:spPr>
      </p:pic>
      <p:sp>
        <p:nvSpPr>
          <p:cNvPr id="10" name="TextBox 9"/>
          <p:cNvSpPr txBox="1"/>
          <p:nvPr/>
        </p:nvSpPr>
        <p:spPr>
          <a:xfrm>
            <a:off x="704088" y="5559552"/>
            <a:ext cx="10881360" cy="411480"/>
          </a:xfrm>
          <a:prstGeom prst="rect">
            <a:avLst/>
          </a:prstGeom>
          <a:noFill/>
        </p:spPr>
        <p:txBody>
          <a:bodyPr wrap="square" lIns="22860" rIns="22860" tIns="13716" bIns="13716">
            <a:spAutoFit/>
          </a:bodyPr>
          <a:lstStyle/>
          <a:p>
            <a:pPr algn="l">
              <a:spcAft>
                <a:spcPts val="700"/>
              </a:spcAft>
              <a:defRPr sz="1600" b="1">
                <a:solidFill>
                  <a:srgbClr val="00746C"/>
                </a:solidFill>
                <a:latin typeface="Arial"/>
              </a:defRPr>
            </a:pPr>
            <a:r>
              <a:t>Held-out seed 1000: both policies pass 0.32 rad. This one trial illustrates tracking, not the overall success rate.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Observed result: stronger held-out performance</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“Domain randomization helped this trained policy pair in the held-out simulation; it is not a universal guarantee.”</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12 / 18</a:t>
            </a:r>
          </a:p>
        </p:txBody>
      </p:sp>
      <p:pic>
        <p:nvPicPr>
          <p:cNvPr id="9" name="Picture 8" descr="success_for_slides.png"/>
          <p:cNvPicPr>
            <a:picLocks noChangeAspect="1"/>
          </p:cNvPicPr>
          <p:nvPr/>
        </p:nvPicPr>
        <p:blipFill>
          <a:blip r:embed="rId3"/>
          <a:stretch>
            <a:fillRect/>
          </a:stretch>
        </p:blipFill>
        <p:spPr>
          <a:xfrm>
            <a:off x="530352" y="1389888"/>
            <a:ext cx="11109960" cy="4144191"/>
          </a:xfrm>
          <a:prstGeom prst="rect">
            <a:avLst/>
          </a:prstGeom>
        </p:spPr>
      </p:pic>
      <p:sp>
        <p:nvSpPr>
          <p:cNvPr id="10" name="TextBox 9"/>
          <p:cNvSpPr txBox="1"/>
          <p:nvPr/>
        </p:nvSpPr>
        <p:spPr>
          <a:xfrm>
            <a:off x="722376" y="5660136"/>
            <a:ext cx="10835640" cy="310896"/>
          </a:xfrm>
          <a:prstGeom prst="rect">
            <a:avLst/>
          </a:prstGeom>
          <a:noFill/>
        </p:spPr>
        <p:txBody>
          <a:bodyPr wrap="square" lIns="22860" rIns="22860" tIns="13716" bIns="13716">
            <a:spAutoFit/>
          </a:bodyPr>
          <a:lstStyle/>
          <a:p>
            <a:pPr algn="l">
              <a:spcAft>
                <a:spcPts val="700"/>
              </a:spcAft>
              <a:defRPr sz="1700" b="1">
                <a:solidFill>
                  <a:srgbClr val="00746C"/>
                </a:solidFill>
                <a:latin typeface="Arial"/>
              </a:defRPr>
            </a:pPr>
            <a:r>
              <a:t>Held-out mean episode RMSE: 0.3299 → 0.2250 rad  •  Intervals describe evaluation uncertainty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Live demonstration: replay, compare, repeat</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“I am reloading trained policies, evaluating matching trials, and checking repeatable execution—not training again.”</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13 / 18</a:t>
            </a:r>
          </a:p>
        </p:txBody>
      </p:sp>
      <p:sp>
        <p:nvSpPr>
          <p:cNvPr id="9" name="TextBox 8"/>
          <p:cNvSpPr txBox="1"/>
          <p:nvPr/>
        </p:nvSpPr>
        <p:spPr>
          <a:xfrm>
            <a:off x="722376" y="1591056"/>
            <a:ext cx="10789920" cy="566928"/>
          </a:xfrm>
          <a:prstGeom prst="rect">
            <a:avLst/>
          </a:prstGeom>
          <a:noFill/>
        </p:spPr>
        <p:txBody>
          <a:bodyPr wrap="square" lIns="22860" rIns="22860" tIns="13716" bIns="13716">
            <a:spAutoFit/>
          </a:bodyPr>
          <a:lstStyle/>
          <a:p>
            <a:pPr algn="l">
              <a:spcAft>
                <a:spcPts val="700"/>
              </a:spcAft>
              <a:defRPr sz="2700" b="1">
                <a:solidFill>
                  <a:srgbClr val="14283F"/>
                </a:solidFill>
                <a:latin typeface="Arial"/>
              </a:defRPr>
            </a:pPr>
            <a:r>
              <a:t>Replay the trained models; repeat the same matched seeds.</a:t>
            </a:r>
          </a:p>
        </p:txBody>
      </p:sp>
      <p:sp>
        <p:nvSpPr>
          <p:cNvPr id="10" name="Rounded Rectangle 9"/>
          <p:cNvSpPr/>
          <p:nvPr/>
        </p:nvSpPr>
        <p:spPr>
          <a:xfrm>
            <a:off x="685800" y="2368296"/>
            <a:ext cx="10835640" cy="950976"/>
          </a:xfrm>
          <a:prstGeom prst="round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660904"/>
            <a:ext cx="10451592" cy="393192"/>
          </a:xfrm>
          <a:prstGeom prst="rect">
            <a:avLst/>
          </a:prstGeom>
          <a:noFill/>
        </p:spPr>
        <p:txBody>
          <a:bodyPr wrap="square" lIns="22860" rIns="22860" tIns="13716" bIns="13716">
            <a:spAutoFit/>
          </a:bodyPr>
          <a:lstStyle/>
          <a:p>
            <a:pPr algn="l">
              <a:spcAft>
                <a:spcPts val="700"/>
              </a:spcAft>
              <a:defRPr sz="1900" b="0">
                <a:solidFill>
                  <a:srgbClr val="FFFFFF"/>
                </a:solidFill>
                <a:latin typeface="Consolas"/>
              </a:defRPr>
            </a:pPr>
            <a:r>
              <a:t>.\.venv\Scripts\python.exe classroom\demo.py --trials 3 --rounds 2</a:t>
            </a:r>
          </a:p>
        </p:txBody>
      </p:sp>
      <p:sp>
        <p:nvSpPr>
          <p:cNvPr id="12" name="Rounded Rectangle 11"/>
          <p:cNvSpPr/>
          <p:nvPr/>
        </p:nvSpPr>
        <p:spPr>
          <a:xfrm>
            <a:off x="713232" y="3639312"/>
            <a:ext cx="3438144" cy="171907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3639312"/>
            <a:ext cx="64008" cy="1719072"/>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794760"/>
            <a:ext cx="3072384" cy="502920"/>
          </a:xfrm>
          <a:prstGeom prst="rect">
            <a:avLst/>
          </a:prstGeom>
          <a:noFill/>
        </p:spPr>
        <p:txBody>
          <a:bodyPr wrap="square" lIns="22860" rIns="22860" tIns="13716" bIns="13716">
            <a:spAutoFit/>
          </a:bodyPr>
          <a:lstStyle/>
          <a:p>
            <a:pPr algn="l">
              <a:spcAft>
                <a:spcPts val="700"/>
              </a:spcAft>
              <a:defRPr sz="2100" b="1">
                <a:solidFill>
                  <a:srgbClr val="00746C"/>
                </a:solidFill>
                <a:latin typeface="Arial"/>
              </a:defRPr>
            </a:pPr>
            <a:r>
              <a:t>1  RUN</a:t>
            </a:r>
          </a:p>
        </p:txBody>
      </p:sp>
      <p:sp>
        <p:nvSpPr>
          <p:cNvPr id="15" name="TextBox 14"/>
          <p:cNvSpPr txBox="1"/>
          <p:nvPr/>
        </p:nvSpPr>
        <p:spPr>
          <a:xfrm>
            <a:off x="896112" y="4416552"/>
            <a:ext cx="3072384" cy="85039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Load saved policies.</a:t>
            </a:r>
          </a:p>
          <a:p>
            <a:pPr algn="l">
              <a:spcAft>
                <a:spcPts val="700"/>
              </a:spcAft>
              <a:defRPr sz="2000" b="0">
                <a:solidFill>
                  <a:srgbClr val="14283F"/>
                </a:solidFill>
                <a:latin typeface="Arial"/>
              </a:defRPr>
            </a:pPr>
            <a:r>
              <a:t>Watch both rounds finish.</a:t>
            </a:r>
          </a:p>
        </p:txBody>
      </p:sp>
      <p:sp>
        <p:nvSpPr>
          <p:cNvPr id="16" name="Rounded Rectangle 15"/>
          <p:cNvSpPr/>
          <p:nvPr/>
        </p:nvSpPr>
        <p:spPr>
          <a:xfrm>
            <a:off x="4379976" y="3639312"/>
            <a:ext cx="3438144" cy="171907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9976" y="3639312"/>
            <a:ext cx="64008" cy="17190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62856" y="3794760"/>
            <a:ext cx="3072384" cy="502920"/>
          </a:xfrm>
          <a:prstGeom prst="rect">
            <a:avLst/>
          </a:prstGeom>
          <a:noFill/>
        </p:spPr>
        <p:txBody>
          <a:bodyPr wrap="square" lIns="22860" rIns="22860" tIns="13716" bIns="13716">
            <a:spAutoFit/>
          </a:bodyPr>
          <a:lstStyle/>
          <a:p>
            <a:pPr algn="l">
              <a:spcAft>
                <a:spcPts val="700"/>
              </a:spcAft>
              <a:defRPr sz="2100" b="1">
                <a:solidFill>
                  <a:srgbClr val="0072B2"/>
                </a:solidFill>
                <a:latin typeface="Arial"/>
              </a:defRPr>
            </a:pPr>
            <a:r>
              <a:t>2  COMPARE</a:t>
            </a:r>
          </a:p>
        </p:txBody>
      </p:sp>
      <p:sp>
        <p:nvSpPr>
          <p:cNvPr id="19" name="TextBox 18"/>
          <p:cNvSpPr txBox="1"/>
          <p:nvPr/>
        </p:nvSpPr>
        <p:spPr>
          <a:xfrm>
            <a:off x="4562856" y="4416552"/>
            <a:ext cx="3072384" cy="850392"/>
          </a:xfrm>
          <a:prstGeom prst="rect">
            <a:avLst/>
          </a:prstGeom>
          <a:noFill/>
        </p:spPr>
        <p:txBody>
          <a:bodyPr wrap="square" lIns="22860" rIns="22860" tIns="13716" bIns="13716">
            <a:spAutoFit/>
          </a:bodyPr>
          <a:lstStyle/>
          <a:p>
            <a:pPr algn="l">
              <a:spcAft>
                <a:spcPts val="700"/>
              </a:spcAft>
              <a:defRPr sz="1900" b="0">
                <a:solidFill>
                  <a:srgbClr val="14283F"/>
                </a:solidFill>
                <a:latin typeface="Arial"/>
              </a:defRPr>
            </a:pPr>
            <a:r>
              <a:t>Open the new tracking PNG.</a:t>
            </a:r>
          </a:p>
          <a:p>
            <a:pPr algn="l">
              <a:spcAft>
                <a:spcPts val="700"/>
              </a:spcAft>
              <a:defRPr sz="1900" b="0">
                <a:solidFill>
                  <a:srgbClr val="14283F"/>
                </a:solidFill>
                <a:latin typeface="Arial"/>
              </a:defRPr>
            </a:pPr>
            <a:r>
              <a:t>Check identical rounds.</a:t>
            </a:r>
          </a:p>
        </p:txBody>
      </p:sp>
      <p:sp>
        <p:nvSpPr>
          <p:cNvPr id="20" name="Rounded Rectangle 19"/>
          <p:cNvSpPr/>
          <p:nvPr/>
        </p:nvSpPr>
        <p:spPr>
          <a:xfrm>
            <a:off x="8046720" y="3639312"/>
            <a:ext cx="3438144" cy="171907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3639312"/>
            <a:ext cx="64008" cy="1719072"/>
          </a:xfrm>
          <a:prstGeom prst="rect">
            <a:avLst/>
          </a:prstGeom>
          <a:solidFill>
            <a:srgbClr val="C65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794760"/>
            <a:ext cx="3072384" cy="502920"/>
          </a:xfrm>
          <a:prstGeom prst="rect">
            <a:avLst/>
          </a:prstGeom>
          <a:noFill/>
        </p:spPr>
        <p:txBody>
          <a:bodyPr wrap="square" lIns="22860" rIns="22860" tIns="13716" bIns="13716">
            <a:spAutoFit/>
          </a:bodyPr>
          <a:lstStyle/>
          <a:p>
            <a:pPr algn="l">
              <a:spcAft>
                <a:spcPts val="700"/>
              </a:spcAft>
              <a:defRPr sz="2100" b="1">
                <a:solidFill>
                  <a:srgbClr val="C65924"/>
                </a:solidFill>
                <a:latin typeface="Arial"/>
              </a:defRPr>
            </a:pPr>
            <a:r>
              <a:t>3  REPEAT</a:t>
            </a:r>
          </a:p>
        </p:txBody>
      </p:sp>
      <p:sp>
        <p:nvSpPr>
          <p:cNvPr id="23" name="TextBox 22"/>
          <p:cNvSpPr txBox="1"/>
          <p:nvPr/>
        </p:nvSpPr>
        <p:spPr>
          <a:xfrm>
            <a:off x="8229600" y="4416552"/>
            <a:ext cx="3072384" cy="850392"/>
          </a:xfrm>
          <a:prstGeom prst="rect">
            <a:avLst/>
          </a:prstGeom>
          <a:noFill/>
        </p:spPr>
        <p:txBody>
          <a:bodyPr wrap="square" lIns="22860" rIns="22860" tIns="13716" bIns="13716">
            <a:spAutoFit/>
          </a:bodyPr>
          <a:lstStyle/>
          <a:p>
            <a:pPr algn="l">
              <a:spcAft>
                <a:spcPts val="700"/>
              </a:spcAft>
              <a:defRPr sz="1800" b="0">
                <a:solidFill>
                  <a:srgbClr val="14283F"/>
                </a:solidFill>
                <a:latin typeface="Arial"/>
              </a:defRPr>
            </a:pPr>
            <a:r>
              <a:t>Run again: a fresh folder.</a:t>
            </a:r>
          </a:p>
          <a:p>
            <a:pPr algn="l">
              <a:spcAft>
                <a:spcPts val="700"/>
              </a:spcAft>
              <a:defRPr sz="1800" b="0">
                <a:solidFill>
                  <a:srgbClr val="14283F"/>
                </a:solidFill>
                <a:latin typeface="Arial"/>
              </a:defRPr>
            </a:pPr>
            <a:r>
              <a:t>Or double-click run_demo.cmd.</a:t>
            </a:r>
          </a:p>
        </p:txBody>
      </p:sp>
      <p:sp>
        <p:nvSpPr>
          <p:cNvPr id="24" name="TextBox 23"/>
          <p:cNvSpPr txBox="1"/>
          <p:nvPr/>
        </p:nvSpPr>
        <p:spPr>
          <a:xfrm>
            <a:off x="749808" y="5669280"/>
            <a:ext cx="10762488" cy="256032"/>
          </a:xfrm>
          <a:prstGeom prst="rect">
            <a:avLst/>
          </a:prstGeom>
          <a:noFill/>
        </p:spPr>
        <p:txBody>
          <a:bodyPr wrap="square" lIns="22860" rIns="22860" tIns="13716" bIns="13716">
            <a:spAutoFit/>
          </a:bodyPr>
          <a:lstStyle/>
          <a:p>
            <a:pPr algn="l">
              <a:spcAft>
                <a:spcPts val="700"/>
              </a:spcAft>
              <a:defRPr sz="1500" b="1">
                <a:solidFill>
                  <a:srgbClr val="00746C"/>
                </a:solidFill>
                <a:latin typeface="Arial"/>
              </a:defRPr>
            </a:pPr>
            <a:r>
              <a:t>Quick demo = 3 seeds; original results = 30. Repeated rounds add no independent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Validation, provenance, and measured runtime</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 plots are backed by raw records, executable checks, saved models, and measured wall-clock time.”</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14 / 18</a:t>
            </a:r>
          </a:p>
        </p:txBody>
      </p:sp>
      <p:sp>
        <p:nvSpPr>
          <p:cNvPr id="9" name="Rounded Rectangle 8"/>
          <p:cNvSpPr/>
          <p:nvPr/>
        </p:nvSpPr>
        <p:spPr>
          <a:xfrm>
            <a:off x="704088" y="1673352"/>
            <a:ext cx="3438144" cy="245059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4088" y="1673352"/>
            <a:ext cx="64008" cy="2450592"/>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828800"/>
            <a:ext cx="3072384" cy="502920"/>
          </a:xfrm>
          <a:prstGeom prst="rect">
            <a:avLst/>
          </a:prstGeom>
          <a:noFill/>
        </p:spPr>
        <p:txBody>
          <a:bodyPr wrap="square" lIns="22860" rIns="22860" tIns="13716" bIns="13716">
            <a:spAutoFit/>
          </a:bodyPr>
          <a:lstStyle/>
          <a:p>
            <a:pPr algn="l">
              <a:spcAft>
                <a:spcPts val="700"/>
              </a:spcAft>
              <a:defRPr sz="2200" b="1">
                <a:solidFill>
                  <a:srgbClr val="00746C"/>
                </a:solidFill>
                <a:latin typeface="Arial"/>
              </a:defRPr>
            </a:pPr>
            <a:r>
              <a:t>ENVIRONMENT</a:t>
            </a:r>
          </a:p>
        </p:txBody>
      </p:sp>
      <p:sp>
        <p:nvSpPr>
          <p:cNvPr id="12" name="TextBox 11"/>
          <p:cNvSpPr txBox="1"/>
          <p:nvPr/>
        </p:nvSpPr>
        <p:spPr>
          <a:xfrm>
            <a:off x="886968" y="2450592"/>
            <a:ext cx="3072384" cy="158191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check_env(): all 3 modes</a:t>
            </a:r>
          </a:p>
          <a:p>
            <a:pPr algn="l">
              <a:spcAft>
                <a:spcPts val="700"/>
              </a:spcAft>
              <a:defRPr sz="2000" b="0">
                <a:solidFill>
                  <a:srgbClr val="14283F"/>
                </a:solidFill>
                <a:latin typeface="Arial"/>
              </a:defRPr>
            </a:pPr>
            <a:r>
              <a:t>8 regression tests passed</a:t>
            </a:r>
          </a:p>
          <a:p>
            <a:pPr algn="l">
              <a:spcAft>
                <a:spcPts val="700"/>
              </a:spcAft>
              <a:defRPr sz="2000" b="0">
                <a:solidFill>
                  <a:srgbClr val="14283F"/>
                </a:solidFill>
                <a:latin typeface="Arial"/>
              </a:defRPr>
            </a:pPr>
            <a:r>
              <a:t>Bounds, delay, dynamics</a:t>
            </a:r>
          </a:p>
        </p:txBody>
      </p:sp>
      <p:sp>
        <p:nvSpPr>
          <p:cNvPr id="13" name="Rounded Rectangle 12"/>
          <p:cNvSpPr/>
          <p:nvPr/>
        </p:nvSpPr>
        <p:spPr>
          <a:xfrm>
            <a:off x="4379976" y="1673352"/>
            <a:ext cx="3438144" cy="245059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1673352"/>
            <a:ext cx="64008" cy="245059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1828800"/>
            <a:ext cx="3072384" cy="502920"/>
          </a:xfrm>
          <a:prstGeom prst="rect">
            <a:avLst/>
          </a:prstGeom>
          <a:noFill/>
        </p:spPr>
        <p:txBody>
          <a:bodyPr wrap="square" lIns="22860" rIns="22860" tIns="13716" bIns="13716">
            <a:spAutoFit/>
          </a:bodyPr>
          <a:lstStyle/>
          <a:p>
            <a:pPr algn="l">
              <a:spcAft>
                <a:spcPts val="700"/>
              </a:spcAft>
              <a:defRPr sz="2200" b="1">
                <a:solidFill>
                  <a:srgbClr val="0072B2"/>
                </a:solidFill>
                <a:latin typeface="Arial"/>
              </a:defRPr>
            </a:pPr>
            <a:r>
              <a:t>EXPERIMENT</a:t>
            </a:r>
          </a:p>
        </p:txBody>
      </p:sp>
      <p:sp>
        <p:nvSpPr>
          <p:cNvPr id="16" name="TextBox 15"/>
          <p:cNvSpPr txBox="1"/>
          <p:nvPr/>
        </p:nvSpPr>
        <p:spPr>
          <a:xfrm>
            <a:off x="4562856" y="2450592"/>
            <a:ext cx="3072384" cy="158191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7 artifact audits passed</a:t>
            </a:r>
          </a:p>
          <a:p>
            <a:pPr algn="l">
              <a:spcAft>
                <a:spcPts val="700"/>
              </a:spcAft>
              <a:defRPr sz="2000" b="0">
                <a:solidFill>
                  <a:srgbClr val="14283F"/>
                </a:solidFill>
                <a:latin typeface="Arial"/>
              </a:defRPr>
            </a:pPr>
            <a:r>
              <a:t>12,000 evaluation steps</a:t>
            </a:r>
          </a:p>
          <a:p>
            <a:pPr algn="l">
              <a:spcAft>
                <a:spcPts val="700"/>
              </a:spcAft>
              <a:defRPr sz="2000" b="0">
                <a:solidFill>
                  <a:srgbClr val="14283F"/>
                </a:solidFill>
                <a:latin typeface="Arial"/>
              </a:defRPr>
            </a:pPr>
            <a:r>
              <a:t>Saved-model replay</a:t>
            </a:r>
          </a:p>
        </p:txBody>
      </p:sp>
      <p:sp>
        <p:nvSpPr>
          <p:cNvPr id="17" name="Rounded Rectangle 16"/>
          <p:cNvSpPr/>
          <p:nvPr/>
        </p:nvSpPr>
        <p:spPr>
          <a:xfrm>
            <a:off x="8055864" y="1673352"/>
            <a:ext cx="3438144" cy="2450592"/>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5864" y="1673352"/>
            <a:ext cx="64008" cy="2450592"/>
          </a:xfrm>
          <a:prstGeom prst="rect">
            <a:avLst/>
          </a:prstGeom>
          <a:solidFill>
            <a:srgbClr val="C65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1828800"/>
            <a:ext cx="3072384" cy="502920"/>
          </a:xfrm>
          <a:prstGeom prst="rect">
            <a:avLst/>
          </a:prstGeom>
          <a:noFill/>
        </p:spPr>
        <p:txBody>
          <a:bodyPr wrap="square" lIns="22860" rIns="22860" tIns="13716" bIns="13716">
            <a:spAutoFit/>
          </a:bodyPr>
          <a:lstStyle/>
          <a:p>
            <a:pPr algn="l">
              <a:spcAft>
                <a:spcPts val="700"/>
              </a:spcAft>
              <a:defRPr sz="2200" b="1">
                <a:solidFill>
                  <a:srgbClr val="C65924"/>
                </a:solidFill>
                <a:latin typeface="Arial"/>
              </a:defRPr>
            </a:pPr>
            <a:r>
              <a:t>CLASSROOM</a:t>
            </a:r>
          </a:p>
        </p:txBody>
      </p:sp>
      <p:sp>
        <p:nvSpPr>
          <p:cNvPr id="20" name="TextBox 19"/>
          <p:cNvSpPr txBox="1"/>
          <p:nvPr/>
        </p:nvSpPr>
        <p:spPr>
          <a:xfrm>
            <a:off x="8238744" y="2450592"/>
            <a:ext cx="3072384" cy="1581912"/>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Two rounds match exactly</a:t>
            </a:r>
          </a:p>
          <a:p>
            <a:pPr algn="l">
              <a:spcAft>
                <a:spcPts val="700"/>
              </a:spcAft>
              <a:defRPr sz="2000" b="0">
                <a:solidFill>
                  <a:srgbClr val="14283F"/>
                </a:solidFill>
                <a:latin typeface="Arial"/>
              </a:defRPr>
            </a:pPr>
            <a:r>
              <a:t>Full replay matches CSVs</a:t>
            </a:r>
          </a:p>
          <a:p>
            <a:pPr algn="l">
              <a:spcAft>
                <a:spcPts val="700"/>
              </a:spcAft>
              <a:defRPr sz="2000" b="0">
                <a:solidFill>
                  <a:srgbClr val="14283F"/>
                </a:solidFill>
                <a:latin typeface="Arial"/>
              </a:defRPr>
            </a:pPr>
            <a:r>
              <a:t>Root results preserved</a:t>
            </a:r>
          </a:p>
        </p:txBody>
      </p:sp>
      <p:sp>
        <p:nvSpPr>
          <p:cNvPr id="21" name="TextBox 20"/>
          <p:cNvSpPr txBox="1"/>
          <p:nvPr/>
        </p:nvSpPr>
        <p:spPr>
          <a:xfrm>
            <a:off x="749808" y="4389120"/>
            <a:ext cx="10789920" cy="457200"/>
          </a:xfrm>
          <a:prstGeom prst="rect">
            <a:avLst/>
          </a:prstGeom>
          <a:noFill/>
        </p:spPr>
        <p:txBody>
          <a:bodyPr wrap="square" lIns="22860" rIns="22860" tIns="13716" bIns="13716">
            <a:spAutoFit/>
          </a:bodyPr>
          <a:lstStyle/>
          <a:p>
            <a:pPr algn="l">
              <a:spcAft>
                <a:spcPts val="700"/>
              </a:spcAft>
              <a:defRPr sz="2600" b="1">
                <a:solidFill>
                  <a:srgbClr val="14283F"/>
                </a:solidFill>
                <a:latin typeface="Arial"/>
              </a:defRPr>
            </a:pPr>
            <a:r>
              <a:t>Measured cloud runtimes</a:t>
            </a:r>
          </a:p>
        </p:txBody>
      </p:sp>
      <p:sp>
        <p:nvSpPr>
          <p:cNvPr id="22" name="TextBox 21"/>
          <p:cNvSpPr txBox="1"/>
          <p:nvPr/>
        </p:nvSpPr>
        <p:spPr>
          <a:xfrm>
            <a:off x="749808" y="4919472"/>
            <a:ext cx="10698480" cy="1069848"/>
          </a:xfrm>
          <a:prstGeom prst="rect">
            <a:avLst/>
          </a:prstGeom>
          <a:noFill/>
        </p:spPr>
        <p:txBody>
          <a:bodyPr wrap="square" lIns="22860" rIns="22860" tIns="13716" bIns="13716">
            <a:spAutoFit/>
          </a:bodyPr>
          <a:lstStyle/>
          <a:p>
            <a:pPr algn="l">
              <a:spcAft>
                <a:spcPts val="700"/>
              </a:spcAft>
              <a:defRPr sz="2000" b="0">
                <a:solidFill>
                  <a:srgbClr val="14283F"/>
                </a:solidFill>
                <a:latin typeface="Arial"/>
              </a:defRPr>
            </a:pPr>
            <a:r>
              <a:t>Full experiment: 27.72 s  •  Training: 20.45 s</a:t>
            </a:r>
          </a:p>
          <a:p>
            <a:pPr algn="l">
              <a:spcAft>
                <a:spcPts val="700"/>
              </a:spcAft>
              <a:defRPr sz="2000" b="0">
                <a:solidFill>
                  <a:srgbClr val="14283F"/>
                </a:solidFill>
                <a:latin typeface="Arial"/>
              </a:defRPr>
            </a:pPr>
            <a:r>
              <a:t>Quick replay: 5.82–7.06 s  •  Full replay: 9.32 s</a:t>
            </a:r>
          </a:p>
          <a:p>
            <a:pPr algn="l">
              <a:spcAft>
                <a:spcPts val="700"/>
              </a:spcAft>
              <a:defRPr sz="2000" b="0">
                <a:solidFill>
                  <a:srgbClr val="14283F"/>
                </a:solidFill>
                <a:latin typeface="Arial"/>
              </a:defRPr>
            </a:pPr>
            <a:r>
              <a:t>Measured on the cloud CPU; laptop timing varies.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Limitations and the next engineering experiment</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 next step is stronger evidence: more training seeds, classical baselines, and more realistic physics.”</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15 / 18</a:t>
            </a:r>
          </a:p>
        </p:txBody>
      </p:sp>
      <p:sp>
        <p:nvSpPr>
          <p:cNvPr id="9" name="Rounded Rectangle 8"/>
          <p:cNvSpPr/>
          <p:nvPr/>
        </p:nvSpPr>
        <p:spPr>
          <a:xfrm>
            <a:off x="694944" y="1645920"/>
            <a:ext cx="5285232" cy="3538728"/>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645920"/>
            <a:ext cx="64008" cy="3538728"/>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801368"/>
            <a:ext cx="4919472" cy="502920"/>
          </a:xfrm>
          <a:prstGeom prst="rect">
            <a:avLst/>
          </a:prstGeom>
          <a:noFill/>
        </p:spPr>
        <p:txBody>
          <a:bodyPr wrap="square" lIns="22860" rIns="22860" tIns="13716" bIns="13716">
            <a:spAutoFit/>
          </a:bodyPr>
          <a:lstStyle/>
          <a:p>
            <a:pPr algn="l">
              <a:spcAft>
                <a:spcPts val="700"/>
              </a:spcAft>
              <a:defRPr sz="2300" b="1">
                <a:solidFill>
                  <a:srgbClr val="00746C"/>
                </a:solidFill>
                <a:latin typeface="Arial"/>
              </a:defRPr>
            </a:pPr>
            <a:r>
              <a:t>WHAT THIS RUN SUPPORTS</a:t>
            </a:r>
          </a:p>
        </p:txBody>
      </p:sp>
      <p:sp>
        <p:nvSpPr>
          <p:cNvPr id="12" name="TextBox 11"/>
          <p:cNvSpPr txBox="1"/>
          <p:nvPr/>
        </p:nvSpPr>
        <p:spPr>
          <a:xfrm>
            <a:off x="877824" y="2423160"/>
            <a:ext cx="4919472" cy="2670048"/>
          </a:xfrm>
          <a:prstGeom prst="rect">
            <a:avLst/>
          </a:prstGeom>
          <a:noFill/>
        </p:spPr>
        <p:txBody>
          <a:bodyPr wrap="square" lIns="22860" rIns="22860" tIns="13716" bIns="13716">
            <a:spAutoFit/>
          </a:bodyPr>
          <a:lstStyle/>
          <a:p>
            <a:pPr algn="l">
              <a:spcAft>
                <a:spcPts val="700"/>
              </a:spcAft>
              <a:defRPr sz="2200" b="0">
                <a:solidFill>
                  <a:srgbClr val="14283F"/>
                </a:solidFill>
                <a:latin typeface="Arial"/>
              </a:defRPr>
            </a:pPr>
            <a:r>
              <a:t>A controlled comparison of training physics</a:t>
            </a:r>
          </a:p>
          <a:p>
            <a:pPr algn="l">
              <a:spcAft>
                <a:spcPts val="700"/>
              </a:spcAft>
              <a:defRPr sz="2200" b="0">
                <a:solidFill>
                  <a:srgbClr val="14283F"/>
                </a:solidFill>
                <a:latin typeface="Arial"/>
              </a:defRPr>
            </a:pPr>
            <a:r>
              <a:t>Observed robustness in one held-out condition</a:t>
            </a:r>
          </a:p>
          <a:p>
            <a:pPr algn="l">
              <a:spcAft>
                <a:spcPts val="700"/>
              </a:spcAft>
              <a:defRPr sz="2200" b="0">
                <a:solidFill>
                  <a:srgbClr val="14283F"/>
                </a:solidFill>
                <a:latin typeface="Arial"/>
              </a:defRPr>
            </a:pPr>
            <a:r>
              <a:t>An inspectable mechatronics control loop</a:t>
            </a:r>
          </a:p>
        </p:txBody>
      </p:sp>
      <p:sp>
        <p:nvSpPr>
          <p:cNvPr id="13" name="Rounded Rectangle 12"/>
          <p:cNvSpPr/>
          <p:nvPr/>
        </p:nvSpPr>
        <p:spPr>
          <a:xfrm>
            <a:off x="6217920" y="1645920"/>
            <a:ext cx="5285232" cy="3538728"/>
          </a:xfrm>
          <a:prstGeom prst="round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645920"/>
            <a:ext cx="64008" cy="3538728"/>
          </a:xfrm>
          <a:prstGeom prst="rect">
            <a:avLst/>
          </a:prstGeom>
          <a:solidFill>
            <a:srgbClr val="C65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01368"/>
            <a:ext cx="4919472" cy="502920"/>
          </a:xfrm>
          <a:prstGeom prst="rect">
            <a:avLst/>
          </a:prstGeom>
          <a:noFill/>
        </p:spPr>
        <p:txBody>
          <a:bodyPr wrap="square" lIns="22860" rIns="22860" tIns="13716" bIns="13716">
            <a:spAutoFit/>
          </a:bodyPr>
          <a:lstStyle/>
          <a:p>
            <a:pPr algn="l">
              <a:spcAft>
                <a:spcPts val="700"/>
              </a:spcAft>
              <a:defRPr sz="2300" b="1">
                <a:solidFill>
                  <a:srgbClr val="C65924"/>
                </a:solidFill>
                <a:latin typeface="Arial"/>
              </a:defRPr>
            </a:pPr>
            <a:r>
              <a:t>NEXT ENGINEERING TESTS</a:t>
            </a:r>
          </a:p>
        </p:txBody>
      </p:sp>
      <p:sp>
        <p:nvSpPr>
          <p:cNvPr id="16" name="TextBox 15"/>
          <p:cNvSpPr txBox="1"/>
          <p:nvPr/>
        </p:nvSpPr>
        <p:spPr>
          <a:xfrm>
            <a:off x="6400800" y="2423160"/>
            <a:ext cx="4919472" cy="2670048"/>
          </a:xfrm>
          <a:prstGeom prst="rect">
            <a:avLst/>
          </a:prstGeom>
          <a:noFill/>
        </p:spPr>
        <p:txBody>
          <a:bodyPr wrap="square" lIns="22860" rIns="22860" tIns="13716" bIns="13716">
            <a:spAutoFit/>
          </a:bodyPr>
          <a:lstStyle/>
          <a:p>
            <a:pPr algn="l">
              <a:spcAft>
                <a:spcPts val="700"/>
              </a:spcAft>
              <a:defRPr sz="2100" b="0">
                <a:solidFill>
                  <a:srgbClr val="14283F"/>
                </a:solidFill>
                <a:latin typeface="Arial"/>
              </a:defRPr>
            </a:pPr>
            <a:r>
              <a:t>Multiple independent training seeds</a:t>
            </a:r>
          </a:p>
          <a:p>
            <a:pPr algn="l">
              <a:spcAft>
                <a:spcPts val="700"/>
              </a:spcAft>
              <a:defRPr sz="2100" b="0">
                <a:solidFill>
                  <a:srgbClr val="14283F"/>
                </a:solidFill>
                <a:latin typeface="Arial"/>
              </a:defRPr>
            </a:pPr>
            <a:r>
              <a:t>Plain PD baseline and parameter ablations</a:t>
            </a:r>
          </a:p>
          <a:p>
            <a:pPr algn="l">
              <a:spcAft>
                <a:spcPts val="700"/>
              </a:spcAft>
              <a:defRPr sz="2100" b="0">
                <a:solidFill>
                  <a:srgbClr val="14283F"/>
                </a:solidFill>
                <a:latin typeface="Arial"/>
              </a:defRPr>
            </a:pPr>
            <a:r>
              <a:t>Timestep sensitivity and richer dynamics</a:t>
            </a:r>
          </a:p>
          <a:p>
            <a:pPr algn="l">
              <a:spcAft>
                <a:spcPts val="700"/>
              </a:spcAft>
              <a:defRPr sz="2100" b="0">
                <a:solidFill>
                  <a:srgbClr val="14283F"/>
                </a:solidFill>
                <a:latin typeface="Arial"/>
              </a:defRPr>
            </a:pPr>
            <a:r>
              <a:t>Calibrated hardware with safety systems</a:t>
            </a:r>
          </a:p>
        </p:txBody>
      </p:sp>
      <p:sp>
        <p:nvSpPr>
          <p:cNvPr id="17" name="TextBox 16"/>
          <p:cNvSpPr txBox="1"/>
          <p:nvPr/>
        </p:nvSpPr>
        <p:spPr>
          <a:xfrm>
            <a:off x="749808" y="5532120"/>
            <a:ext cx="10744200" cy="365760"/>
          </a:xfrm>
          <a:prstGeom prst="rect">
            <a:avLst/>
          </a:prstGeom>
          <a:noFill/>
        </p:spPr>
        <p:txBody>
          <a:bodyPr wrap="square" lIns="22860" rIns="22860" tIns="13716" bIns="13716">
            <a:spAutoFit/>
          </a:bodyPr>
          <a:lstStyle/>
          <a:p>
            <a:pPr algn="l">
              <a:spcAft>
                <a:spcPts val="700"/>
              </a:spcAft>
              <a:defRPr sz="1800" b="0">
                <a:solidFill>
                  <a:srgbClr val="526477"/>
                </a:solidFill>
                <a:latin typeface="Arial"/>
              </a:defRPr>
            </a:pPr>
            <a:r>
              <a:t>No full quadruped, contacts, balance, calibrated hardware, or proof of stability is claimed.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83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93D9D3"/>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FFFFFF"/>
                </a:solidFill>
                <a:latin typeface="Arial"/>
              </a:defRPr>
            </a:pPr>
            <a:r>
              <a:t>Takeaway: robustness is an evidence-based claim</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FFFFFF"/>
                </a:solidFill>
                <a:latin typeface="Arial"/>
              </a:defRPr>
            </a:pPr>
            <a:r>
              <a:t>SAY  “Randomization improved this simulated transfer test; the data define how far that conclusion can go.”</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BED1DD"/>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BED1DD"/>
                </a:solidFill>
                <a:latin typeface="Arial"/>
              </a:defRPr>
            </a:pPr>
            <a:r>
              <a:t>16 / 18</a:t>
            </a:r>
          </a:p>
        </p:txBody>
      </p:sp>
      <p:sp>
        <p:nvSpPr>
          <p:cNvPr id="9" name="TextBox 8"/>
          <p:cNvSpPr txBox="1"/>
          <p:nvPr/>
        </p:nvSpPr>
        <p:spPr>
          <a:xfrm>
            <a:off x="713232" y="1691640"/>
            <a:ext cx="10789920" cy="1316736"/>
          </a:xfrm>
          <a:prstGeom prst="rect">
            <a:avLst/>
          </a:prstGeom>
          <a:noFill/>
        </p:spPr>
        <p:txBody>
          <a:bodyPr wrap="square" lIns="22860" rIns="22860" tIns="13716" bIns="13716">
            <a:spAutoFit/>
          </a:bodyPr>
          <a:lstStyle/>
          <a:p>
            <a:pPr algn="l">
              <a:spcAft>
                <a:spcPts val="700"/>
              </a:spcAft>
              <a:defRPr sz="3700" b="1">
                <a:solidFill>
                  <a:srgbClr val="FFFFFF"/>
                </a:solidFill>
                <a:latin typeface="Arial"/>
              </a:defRPr>
            </a:pPr>
            <a:r>
              <a:t>For this policy pair, varied physics</a:t>
            </a:r>
          </a:p>
          <a:p>
            <a:pPr algn="l">
              <a:spcAft>
                <a:spcPts val="700"/>
              </a:spcAft>
              <a:defRPr sz="3700" b="1">
                <a:solidFill>
                  <a:srgbClr val="FFFFFF"/>
                </a:solidFill>
                <a:latin typeface="Arial"/>
              </a:defRPr>
            </a:pPr>
            <a:r>
              <a:t>improved held-out robustness.</a:t>
            </a:r>
          </a:p>
        </p:txBody>
      </p:sp>
      <p:sp>
        <p:nvSpPr>
          <p:cNvPr id="10" name="TextBox 9"/>
          <p:cNvSpPr txBox="1"/>
          <p:nvPr/>
        </p:nvSpPr>
        <p:spPr>
          <a:xfrm>
            <a:off x="822960" y="3566160"/>
            <a:ext cx="4023360" cy="585216"/>
          </a:xfrm>
          <a:prstGeom prst="rect">
            <a:avLst/>
          </a:prstGeom>
          <a:noFill/>
        </p:spPr>
        <p:txBody>
          <a:bodyPr wrap="square" lIns="22860" rIns="22860" tIns="13716" bIns="13716">
            <a:spAutoFit/>
          </a:bodyPr>
          <a:lstStyle/>
          <a:p>
            <a:pPr algn="l">
              <a:spcAft>
                <a:spcPts val="700"/>
              </a:spcAft>
              <a:defRPr sz="3000" b="1">
                <a:solidFill>
                  <a:srgbClr val="93D9D3"/>
                </a:solidFill>
                <a:latin typeface="Arial"/>
              </a:defRPr>
            </a:pPr>
            <a:r>
              <a:t>14 → 29</a:t>
            </a:r>
          </a:p>
        </p:txBody>
      </p:sp>
      <p:sp>
        <p:nvSpPr>
          <p:cNvPr id="11" name="TextBox 10"/>
          <p:cNvSpPr txBox="1"/>
          <p:nvPr/>
        </p:nvSpPr>
        <p:spPr>
          <a:xfrm>
            <a:off x="822960" y="4297680"/>
            <a:ext cx="4023360" cy="731520"/>
          </a:xfrm>
          <a:prstGeom prst="rect">
            <a:avLst/>
          </a:prstGeom>
          <a:noFill/>
        </p:spPr>
        <p:txBody>
          <a:bodyPr wrap="square" lIns="22860" rIns="22860" tIns="13716" bIns="13716">
            <a:spAutoFit/>
          </a:bodyPr>
          <a:lstStyle/>
          <a:p>
            <a:pPr algn="l">
              <a:spcAft>
                <a:spcPts val="700"/>
              </a:spcAft>
              <a:defRPr sz="1800" b="0">
                <a:solidFill>
                  <a:srgbClr val="D3E5EE"/>
                </a:solidFill>
                <a:latin typeface="Arial"/>
              </a:defRPr>
            </a:pPr>
            <a:r>
              <a:t>Successful held-out trials / 30</a:t>
            </a:r>
          </a:p>
        </p:txBody>
      </p:sp>
      <p:sp>
        <p:nvSpPr>
          <p:cNvPr id="12" name="TextBox 11"/>
          <p:cNvSpPr txBox="1"/>
          <p:nvPr/>
        </p:nvSpPr>
        <p:spPr>
          <a:xfrm>
            <a:off x="4773168" y="3566160"/>
            <a:ext cx="4023360" cy="585216"/>
          </a:xfrm>
          <a:prstGeom prst="rect">
            <a:avLst/>
          </a:prstGeom>
          <a:noFill/>
        </p:spPr>
        <p:txBody>
          <a:bodyPr wrap="square" lIns="22860" rIns="22860" tIns="13716" bIns="13716">
            <a:spAutoFit/>
          </a:bodyPr>
          <a:lstStyle/>
          <a:p>
            <a:pPr algn="l">
              <a:spcAft>
                <a:spcPts val="700"/>
              </a:spcAft>
              <a:defRPr sz="3000" b="1">
                <a:solidFill>
                  <a:srgbClr val="93D9D3"/>
                </a:solidFill>
                <a:latin typeface="Arial"/>
              </a:defRPr>
            </a:pPr>
            <a:r>
              <a:t>0.3299 → 0.2250</a:t>
            </a:r>
          </a:p>
        </p:txBody>
      </p:sp>
      <p:sp>
        <p:nvSpPr>
          <p:cNvPr id="13" name="TextBox 12"/>
          <p:cNvSpPr txBox="1"/>
          <p:nvPr/>
        </p:nvSpPr>
        <p:spPr>
          <a:xfrm>
            <a:off x="4773168" y="4297680"/>
            <a:ext cx="4023360" cy="731520"/>
          </a:xfrm>
          <a:prstGeom prst="rect">
            <a:avLst/>
          </a:prstGeom>
          <a:noFill/>
        </p:spPr>
        <p:txBody>
          <a:bodyPr wrap="square" lIns="22860" rIns="22860" tIns="13716" bIns="13716">
            <a:spAutoFit/>
          </a:bodyPr>
          <a:lstStyle/>
          <a:p>
            <a:pPr algn="l">
              <a:spcAft>
                <a:spcPts val="700"/>
              </a:spcAft>
              <a:defRPr sz="1800" b="0">
                <a:solidFill>
                  <a:srgbClr val="D3E5EE"/>
                </a:solidFill>
                <a:latin typeface="Arial"/>
              </a:defRPr>
            </a:pPr>
            <a:r>
              <a:t>Held-out mean RMSE (rad)</a:t>
            </a:r>
          </a:p>
        </p:txBody>
      </p:sp>
      <p:sp>
        <p:nvSpPr>
          <p:cNvPr id="14" name="TextBox 13"/>
          <p:cNvSpPr txBox="1"/>
          <p:nvPr/>
        </p:nvSpPr>
        <p:spPr>
          <a:xfrm>
            <a:off x="9144000" y="3566160"/>
            <a:ext cx="2286000" cy="585216"/>
          </a:xfrm>
          <a:prstGeom prst="rect">
            <a:avLst/>
          </a:prstGeom>
          <a:noFill/>
        </p:spPr>
        <p:txBody>
          <a:bodyPr wrap="square" lIns="22860" rIns="22860" tIns="13716" bIns="13716">
            <a:spAutoFit/>
          </a:bodyPr>
          <a:lstStyle/>
          <a:p>
            <a:pPr algn="l">
              <a:spcAft>
                <a:spcPts val="700"/>
              </a:spcAft>
              <a:defRPr sz="3400" b="1">
                <a:solidFill>
                  <a:srgbClr val="93D9D3"/>
                </a:solidFill>
                <a:latin typeface="Arial"/>
              </a:defRPr>
            </a:pPr>
            <a:r>
              <a:t>100%</a:t>
            </a:r>
          </a:p>
        </p:txBody>
      </p:sp>
      <p:sp>
        <p:nvSpPr>
          <p:cNvPr id="15" name="TextBox 14"/>
          <p:cNvSpPr txBox="1"/>
          <p:nvPr/>
        </p:nvSpPr>
        <p:spPr>
          <a:xfrm>
            <a:off x="9144000" y="4297680"/>
            <a:ext cx="2286000" cy="731520"/>
          </a:xfrm>
          <a:prstGeom prst="rect">
            <a:avLst/>
          </a:prstGeom>
          <a:noFill/>
        </p:spPr>
        <p:txBody>
          <a:bodyPr wrap="square" lIns="22860" rIns="22860" tIns="13716" bIns="13716">
            <a:spAutoFit/>
          </a:bodyPr>
          <a:lstStyle/>
          <a:p>
            <a:pPr algn="l">
              <a:spcAft>
                <a:spcPts val="700"/>
              </a:spcAft>
              <a:defRPr sz="1800" b="0">
                <a:solidFill>
                  <a:srgbClr val="D3E5EE"/>
                </a:solidFill>
                <a:latin typeface="Arial"/>
              </a:defRPr>
            </a:pPr>
            <a:r>
              <a:t>Nominal success, both</a:t>
            </a:r>
          </a:p>
        </p:txBody>
      </p:sp>
      <p:sp>
        <p:nvSpPr>
          <p:cNvPr id="16" name="TextBox 15"/>
          <p:cNvSpPr txBox="1"/>
          <p:nvPr/>
        </p:nvSpPr>
        <p:spPr>
          <a:xfrm>
            <a:off x="749808" y="5422392"/>
            <a:ext cx="10762488" cy="402336"/>
          </a:xfrm>
          <a:prstGeom prst="rect">
            <a:avLst/>
          </a:prstGeom>
          <a:noFill/>
        </p:spPr>
        <p:txBody>
          <a:bodyPr wrap="square" lIns="22860" rIns="22860" tIns="13716" bIns="13716">
            <a:spAutoFit/>
          </a:bodyPr>
          <a:lstStyle/>
          <a:p>
            <a:pPr algn="l">
              <a:spcAft>
                <a:spcPts val="700"/>
              </a:spcAft>
              <a:defRPr sz="2100" b="0">
                <a:solidFill>
                  <a:srgbClr val="FFFFFF"/>
                </a:solidFill>
                <a:latin typeface="Arial"/>
              </a:defRPr>
            </a:pPr>
            <a:r>
              <a:t>Engineering takeaway: test the reality gap, retain the evidence, and qualify the claim.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How the four Reading 5 sources connect</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 readings motivate the engineering choices; this small experiment does not reproduce their complete systems.”</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17 / 18</a:t>
            </a:r>
          </a:p>
        </p:txBody>
      </p:sp>
      <p:sp>
        <p:nvSpPr>
          <p:cNvPr id="9" name="TextBox 8"/>
          <p:cNvSpPr txBox="1"/>
          <p:nvPr/>
        </p:nvSpPr>
        <p:spPr>
          <a:xfrm>
            <a:off x="731520" y="1517904"/>
            <a:ext cx="10789920" cy="219456"/>
          </a:xfrm>
          <a:prstGeom prst="rect">
            <a:avLst/>
          </a:prstGeom>
          <a:noFill/>
        </p:spPr>
        <p:txBody>
          <a:bodyPr wrap="square" lIns="22860" rIns="22860" tIns="13716" bIns="13716">
            <a:spAutoFit/>
          </a:bodyPr>
          <a:lstStyle/>
          <a:p>
            <a:pPr algn="l">
              <a:spcAft>
                <a:spcPts val="700"/>
              </a:spcAft>
              <a:defRPr sz="1400" b="1">
                <a:solidFill>
                  <a:srgbClr val="00746C"/>
                </a:solidFill>
                <a:latin typeface="Arial"/>
              </a:defRPr>
            </a:pPr>
            <a:r>
              <a:t>TAN ET AL. (2018)</a:t>
            </a:r>
          </a:p>
        </p:txBody>
      </p:sp>
      <p:sp>
        <p:nvSpPr>
          <p:cNvPr id="10" name="TextBox 9"/>
          <p:cNvSpPr txBox="1"/>
          <p:nvPr/>
        </p:nvSpPr>
        <p:spPr>
          <a:xfrm>
            <a:off x="731520" y="1773936"/>
            <a:ext cx="10789920" cy="292608"/>
          </a:xfrm>
          <a:prstGeom prst="rect">
            <a:avLst/>
          </a:prstGeom>
          <a:noFill/>
        </p:spPr>
        <p:txBody>
          <a:bodyPr wrap="square" lIns="22860" rIns="22860" tIns="13716" bIns="13716">
            <a:spAutoFit/>
          </a:bodyPr>
          <a:lstStyle/>
          <a:p>
            <a:pPr algn="l">
              <a:spcAft>
                <a:spcPts val="700"/>
              </a:spcAft>
              <a:defRPr sz="1800" b="1">
                <a:solidFill>
                  <a:srgbClr val="14283F"/>
                </a:solidFill>
                <a:latin typeface="Arial"/>
              </a:defRPr>
            </a:pPr>
            <a:r>
              <a:t>Sim-to-Real: Learning Agile Locomotion for Quadruped Robots</a:t>
            </a:r>
          </a:p>
        </p:txBody>
      </p:sp>
      <p:sp>
        <p:nvSpPr>
          <p:cNvPr id="11" name="TextBox 10"/>
          <p:cNvSpPr txBox="1"/>
          <p:nvPr/>
        </p:nvSpPr>
        <p:spPr>
          <a:xfrm>
            <a:off x="731520" y="2130552"/>
            <a:ext cx="10789920" cy="237744"/>
          </a:xfrm>
          <a:prstGeom prst="rect">
            <a:avLst/>
          </a:prstGeom>
          <a:noFill/>
        </p:spPr>
        <p:txBody>
          <a:bodyPr wrap="square" lIns="22860" rIns="22860" tIns="13716" bIns="13716">
            <a:spAutoFit/>
          </a:bodyPr>
          <a:lstStyle/>
          <a:p>
            <a:pPr algn="l">
              <a:spcAft>
                <a:spcPts val="700"/>
              </a:spcAft>
              <a:defRPr sz="1200" b="0">
                <a:solidFill>
                  <a:srgbClr val="526477"/>
                </a:solidFill>
                <a:latin typeface="Arial"/>
              </a:defRPr>
            </a:pPr>
            <a:r>
              <a:rPr>
                <a:hlinkClick r:id="rId3"/>
              </a:rPr>
              <a:t>https://arxiv.org/abs/1804.10332  |  Actuation and randomized-simulation motivation</a:t>
            </a:r>
          </a:p>
        </p:txBody>
      </p:sp>
      <p:sp>
        <p:nvSpPr>
          <p:cNvPr id="12" name="TextBox 11"/>
          <p:cNvSpPr txBox="1"/>
          <p:nvPr/>
        </p:nvSpPr>
        <p:spPr>
          <a:xfrm>
            <a:off x="731520" y="2505456"/>
            <a:ext cx="10789920" cy="219456"/>
          </a:xfrm>
          <a:prstGeom prst="rect">
            <a:avLst/>
          </a:prstGeom>
          <a:noFill/>
        </p:spPr>
        <p:txBody>
          <a:bodyPr wrap="square" lIns="22860" rIns="22860" tIns="13716" bIns="13716">
            <a:spAutoFit/>
          </a:bodyPr>
          <a:lstStyle/>
          <a:p>
            <a:pPr algn="l">
              <a:spcAft>
                <a:spcPts val="700"/>
              </a:spcAft>
              <a:defRPr sz="1400" b="1">
                <a:solidFill>
                  <a:srgbClr val="00746C"/>
                </a:solidFill>
                <a:latin typeface="Arial"/>
              </a:defRPr>
            </a:pPr>
            <a:r>
              <a:t>ZHAO ET AL.</a:t>
            </a:r>
          </a:p>
        </p:txBody>
      </p:sp>
      <p:sp>
        <p:nvSpPr>
          <p:cNvPr id="13" name="TextBox 12"/>
          <p:cNvSpPr txBox="1"/>
          <p:nvPr/>
        </p:nvSpPr>
        <p:spPr>
          <a:xfrm>
            <a:off x="731520" y="2761488"/>
            <a:ext cx="10789920" cy="292608"/>
          </a:xfrm>
          <a:prstGeom prst="rect">
            <a:avLst/>
          </a:prstGeom>
          <a:noFill/>
        </p:spPr>
        <p:txBody>
          <a:bodyPr wrap="square" lIns="22860" rIns="22860" tIns="13716" bIns="13716">
            <a:spAutoFit/>
          </a:bodyPr>
          <a:lstStyle/>
          <a:p>
            <a:pPr algn="l">
              <a:spcAft>
                <a:spcPts val="700"/>
              </a:spcAft>
              <a:defRPr sz="1800" b="1">
                <a:solidFill>
                  <a:srgbClr val="14283F"/>
                </a:solidFill>
                <a:latin typeface="Arial"/>
              </a:defRPr>
            </a:pPr>
            <a:r>
              <a:t>Sim-to-Real Transfer in Deep Reinforcement Learning for Robotics: A Survey</a:t>
            </a:r>
          </a:p>
        </p:txBody>
      </p:sp>
      <p:sp>
        <p:nvSpPr>
          <p:cNvPr id="14" name="TextBox 13"/>
          <p:cNvSpPr txBox="1"/>
          <p:nvPr/>
        </p:nvSpPr>
        <p:spPr>
          <a:xfrm>
            <a:off x="731520" y="3118104"/>
            <a:ext cx="10789920" cy="237744"/>
          </a:xfrm>
          <a:prstGeom prst="rect">
            <a:avLst/>
          </a:prstGeom>
          <a:noFill/>
        </p:spPr>
        <p:txBody>
          <a:bodyPr wrap="square" lIns="22860" rIns="22860" tIns="13716" bIns="13716">
            <a:spAutoFit/>
          </a:bodyPr>
          <a:lstStyle/>
          <a:p>
            <a:pPr algn="l">
              <a:spcAft>
                <a:spcPts val="700"/>
              </a:spcAft>
              <a:defRPr sz="1200" b="0">
                <a:solidFill>
                  <a:srgbClr val="526477"/>
                </a:solidFill>
                <a:latin typeface="Arial"/>
              </a:defRPr>
            </a:pPr>
            <a:r>
              <a:rPr>
                <a:hlinkClick r:id="rId4"/>
              </a:rPr>
              <a:t>https://arxiv.org/abs/2009.13303  |  Reality-gap context and transfer strategies</a:t>
            </a:r>
          </a:p>
        </p:txBody>
      </p:sp>
      <p:sp>
        <p:nvSpPr>
          <p:cNvPr id="15" name="TextBox 14"/>
          <p:cNvSpPr txBox="1"/>
          <p:nvPr/>
        </p:nvSpPr>
        <p:spPr>
          <a:xfrm>
            <a:off x="731520" y="3493008"/>
            <a:ext cx="10789920" cy="219456"/>
          </a:xfrm>
          <a:prstGeom prst="rect">
            <a:avLst/>
          </a:prstGeom>
          <a:noFill/>
        </p:spPr>
        <p:txBody>
          <a:bodyPr wrap="square" lIns="22860" rIns="22860" tIns="13716" bIns="13716">
            <a:spAutoFit/>
          </a:bodyPr>
          <a:lstStyle/>
          <a:p>
            <a:pPr algn="l">
              <a:spcAft>
                <a:spcPts val="700"/>
              </a:spcAft>
              <a:defRPr sz="1400" b="1">
                <a:solidFill>
                  <a:srgbClr val="00746C"/>
                </a:solidFill>
                <a:latin typeface="Arial"/>
              </a:defRPr>
            </a:pPr>
            <a:r>
              <a:t>SUTTON &amp; BARTO · CHAPTER 13</a:t>
            </a:r>
          </a:p>
        </p:txBody>
      </p:sp>
      <p:sp>
        <p:nvSpPr>
          <p:cNvPr id="16" name="TextBox 15"/>
          <p:cNvSpPr txBox="1"/>
          <p:nvPr/>
        </p:nvSpPr>
        <p:spPr>
          <a:xfrm>
            <a:off x="731520" y="3749040"/>
            <a:ext cx="10789920" cy="292608"/>
          </a:xfrm>
          <a:prstGeom prst="rect">
            <a:avLst/>
          </a:prstGeom>
          <a:noFill/>
        </p:spPr>
        <p:txBody>
          <a:bodyPr wrap="square" lIns="22860" rIns="22860" tIns="13716" bIns="13716">
            <a:spAutoFit/>
          </a:bodyPr>
          <a:lstStyle/>
          <a:p>
            <a:pPr algn="l">
              <a:spcAft>
                <a:spcPts val="700"/>
              </a:spcAft>
              <a:defRPr sz="1800" b="1">
                <a:solidFill>
                  <a:srgbClr val="14283F"/>
                </a:solidFill>
                <a:latin typeface="Arial"/>
              </a:defRPr>
            </a:pPr>
            <a:r>
              <a:t>Reinforcement Learning: An Introduction</a:t>
            </a:r>
          </a:p>
        </p:txBody>
      </p:sp>
      <p:sp>
        <p:nvSpPr>
          <p:cNvPr id="17" name="TextBox 16"/>
          <p:cNvSpPr txBox="1"/>
          <p:nvPr/>
        </p:nvSpPr>
        <p:spPr>
          <a:xfrm>
            <a:off x="731520" y="4105656"/>
            <a:ext cx="10789920" cy="237744"/>
          </a:xfrm>
          <a:prstGeom prst="rect">
            <a:avLst/>
          </a:prstGeom>
          <a:noFill/>
        </p:spPr>
        <p:txBody>
          <a:bodyPr wrap="square" lIns="22860" rIns="22860" tIns="13716" bIns="13716">
            <a:spAutoFit/>
          </a:bodyPr>
          <a:lstStyle/>
          <a:p>
            <a:pPr algn="l">
              <a:spcAft>
                <a:spcPts val="700"/>
              </a:spcAft>
              <a:defRPr sz="1200" b="0">
                <a:solidFill>
                  <a:srgbClr val="526477"/>
                </a:solidFill>
                <a:latin typeface="Arial"/>
              </a:defRPr>
            </a:pPr>
            <a:r>
              <a:rPr>
                <a:hlinkClick r:id="rId5"/>
              </a:rPr>
              <a:t>http://incompleteideas.net/book/the-book-2nd.html  |  Policy-gradient / actor–critic foundations</a:t>
            </a:r>
          </a:p>
        </p:txBody>
      </p:sp>
      <p:sp>
        <p:nvSpPr>
          <p:cNvPr id="18" name="TextBox 17"/>
          <p:cNvSpPr txBox="1"/>
          <p:nvPr/>
        </p:nvSpPr>
        <p:spPr>
          <a:xfrm>
            <a:off x="731520" y="4480560"/>
            <a:ext cx="10789920" cy="219456"/>
          </a:xfrm>
          <a:prstGeom prst="rect">
            <a:avLst/>
          </a:prstGeom>
          <a:noFill/>
        </p:spPr>
        <p:txBody>
          <a:bodyPr wrap="square" lIns="22860" rIns="22860" tIns="13716" bIns="13716">
            <a:spAutoFit/>
          </a:bodyPr>
          <a:lstStyle/>
          <a:p>
            <a:pPr algn="l">
              <a:spcAft>
                <a:spcPts val="700"/>
              </a:spcAft>
              <a:defRPr sz="1400" b="1">
                <a:solidFill>
                  <a:srgbClr val="00746C"/>
                </a:solidFill>
                <a:latin typeface="Arial"/>
              </a:defRPr>
            </a:pPr>
            <a:r>
              <a:t>MUJOCO</a:t>
            </a:r>
          </a:p>
        </p:txBody>
      </p:sp>
      <p:sp>
        <p:nvSpPr>
          <p:cNvPr id="19" name="TextBox 18"/>
          <p:cNvSpPr txBox="1"/>
          <p:nvPr/>
        </p:nvSpPr>
        <p:spPr>
          <a:xfrm>
            <a:off x="731520" y="4736592"/>
            <a:ext cx="10789920" cy="292608"/>
          </a:xfrm>
          <a:prstGeom prst="rect">
            <a:avLst/>
          </a:prstGeom>
          <a:noFill/>
        </p:spPr>
        <p:txBody>
          <a:bodyPr wrap="square" lIns="22860" rIns="22860" tIns="13716" bIns="13716">
            <a:spAutoFit/>
          </a:bodyPr>
          <a:lstStyle/>
          <a:p>
            <a:pPr algn="l">
              <a:spcAft>
                <a:spcPts val="700"/>
              </a:spcAft>
              <a:defRPr sz="1800" b="1">
                <a:solidFill>
                  <a:srgbClr val="14283F"/>
                </a:solidFill>
                <a:latin typeface="Arial"/>
              </a:defRPr>
            </a:pPr>
            <a:r>
              <a:t>Full multibody physics, contacts, constraints, and actuators</a:t>
            </a:r>
          </a:p>
        </p:txBody>
      </p:sp>
      <p:sp>
        <p:nvSpPr>
          <p:cNvPr id="20" name="TextBox 19"/>
          <p:cNvSpPr txBox="1"/>
          <p:nvPr/>
        </p:nvSpPr>
        <p:spPr>
          <a:xfrm>
            <a:off x="731520" y="5093208"/>
            <a:ext cx="10789920" cy="237744"/>
          </a:xfrm>
          <a:prstGeom prst="rect">
            <a:avLst/>
          </a:prstGeom>
          <a:noFill/>
        </p:spPr>
        <p:txBody>
          <a:bodyPr wrap="square" lIns="22860" rIns="22860" tIns="13716" bIns="13716">
            <a:spAutoFit/>
          </a:bodyPr>
          <a:lstStyle/>
          <a:p>
            <a:pPr algn="l">
              <a:spcAft>
                <a:spcPts val="700"/>
              </a:spcAft>
              <a:defRPr sz="1200" b="0">
                <a:solidFill>
                  <a:srgbClr val="526477"/>
                </a:solidFill>
                <a:latin typeface="Arial"/>
              </a:defRPr>
            </a:pPr>
            <a:r>
              <a:rPr>
                <a:hlinkClick r:id="rId6"/>
              </a:rPr>
              <a:t>https://mujoco.org/  |  A richer simulator; not used in this one-joint code</a:t>
            </a:r>
          </a:p>
        </p:txBody>
      </p:sp>
      <p:sp>
        <p:nvSpPr>
          <p:cNvPr id="21" name="TextBox 20"/>
          <p:cNvSpPr txBox="1"/>
          <p:nvPr/>
        </p:nvSpPr>
        <p:spPr>
          <a:xfrm>
            <a:off x="731520" y="5650992"/>
            <a:ext cx="10789920" cy="228600"/>
          </a:xfrm>
          <a:prstGeom prst="rect">
            <a:avLst/>
          </a:prstGeom>
          <a:noFill/>
        </p:spPr>
        <p:txBody>
          <a:bodyPr wrap="square" lIns="22860" rIns="22860" tIns="13716" bIns="13716">
            <a:spAutoFit/>
          </a:bodyPr>
          <a:lstStyle/>
          <a:p>
            <a:pPr algn="l">
              <a:spcAft>
                <a:spcPts val="700"/>
              </a:spcAft>
              <a:defRPr sz="1300" b="0">
                <a:solidFill>
                  <a:srgbClr val="526477"/>
                </a:solidFill>
                <a:latin typeface="Arial"/>
              </a:defRPr>
            </a:pPr>
            <a:r>
              <a:t>Specific PPO method: Schulman et al. (2017), https://arxiv.org/abs/1707.06347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82880"/>
            <a:ext cx="9784080" cy="228600"/>
          </a:xfrm>
          <a:prstGeom prst="rect">
            <a:avLst/>
          </a:prstGeom>
          <a:noFill/>
        </p:spPr>
        <p:txBody>
          <a:bodyPr wrap="square" lIns="22860" rIns="22860" tIns="13716" bIns="13716">
            <a:spAutoFit/>
          </a:bodyPr>
          <a:lstStyle/>
          <a:p>
            <a:pPr algn="l">
              <a:spcAft>
                <a:spcPts val="700"/>
              </a:spcAft>
              <a:defRPr sz="1100" b="1">
                <a:solidFill>
                  <a:srgbClr val="00746C"/>
                </a:solidFill>
                <a:latin typeface="Arial"/>
              </a:defRPr>
            </a:pPr>
            <a:r>
              <a:t>ENGR 6010  /  AI IN ROBOTICS</a:t>
            </a:r>
          </a:p>
        </p:txBody>
      </p:sp>
      <p:sp>
        <p:nvSpPr>
          <p:cNvPr id="3" name="TextBox 2"/>
          <p:cNvSpPr txBox="1"/>
          <p:nvPr/>
        </p:nvSpPr>
        <p:spPr>
          <a:xfrm>
            <a:off x="530352" y="566928"/>
            <a:ext cx="11109960" cy="630936"/>
          </a:xfrm>
          <a:prstGeom prst="rect">
            <a:avLst/>
          </a:prstGeom>
          <a:noFill/>
        </p:spPr>
        <p:txBody>
          <a:bodyPr wrap="square" lIns="22860" rIns="22860" tIns="13716" bIns="13716">
            <a:spAutoFit/>
          </a:bodyPr>
          <a:lstStyle/>
          <a:p>
            <a:pPr algn="l">
              <a:spcAft>
                <a:spcPts val="700"/>
              </a:spcAft>
              <a:defRPr sz="3000" b="1">
                <a:solidFill>
                  <a:srgbClr val="14283F"/>
                </a:solidFill>
                <a:latin typeface="Arial"/>
              </a:defRPr>
            </a:pPr>
            <a:r>
              <a:t>Backup: complete verified numerical comparison</a:t>
            </a:r>
          </a:p>
        </p:txBody>
      </p:sp>
      <p:sp>
        <p:nvSpPr>
          <p:cNvPr id="4" name="Rectangle 3"/>
          <p:cNvSpPr/>
          <p:nvPr/>
        </p:nvSpPr>
        <p:spPr>
          <a:xfrm>
            <a:off x="548640" y="1243584"/>
            <a:ext cx="11064240" cy="22860"/>
          </a:xfrm>
          <a:prstGeom prst="rect">
            <a:avLst/>
          </a:prstGeom>
          <a:solidFill>
            <a:srgbClr val="00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6117336"/>
            <a:ext cx="11109960" cy="420624"/>
          </a:xfrm>
          <a:prstGeom prst="roundRect">
            <a:avLst/>
          </a:prstGeom>
          <a:solidFill>
            <a:srgbClr val="E8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6208776"/>
            <a:ext cx="10817352" cy="246888"/>
          </a:xfrm>
          <a:prstGeom prst="rect">
            <a:avLst/>
          </a:prstGeom>
          <a:noFill/>
        </p:spPr>
        <p:txBody>
          <a:bodyPr wrap="square" lIns="22860" rIns="22860" tIns="13716" bIns="13716">
            <a:spAutoFit/>
          </a:bodyPr>
          <a:lstStyle/>
          <a:p>
            <a:pPr algn="l">
              <a:spcAft>
                <a:spcPts val="700"/>
              </a:spcAft>
              <a:defRPr sz="1400" b="0">
                <a:solidFill>
                  <a:srgbClr val="00746C"/>
                </a:solidFill>
                <a:latin typeface="Arial"/>
              </a:defRPr>
            </a:pPr>
            <a:r>
              <a:t>SAY  “These are the full thirty-trial statistics; quick replay values are labeled separately.”</a:t>
            </a:r>
          </a:p>
        </p:txBody>
      </p:sp>
      <p:sp>
        <p:nvSpPr>
          <p:cNvPr id="7" name="TextBox 6"/>
          <p:cNvSpPr txBox="1"/>
          <p:nvPr/>
        </p:nvSpPr>
        <p:spPr>
          <a:xfrm>
            <a:off x="548640" y="6620256"/>
            <a:ext cx="10332720" cy="164592"/>
          </a:xfrm>
          <a:prstGeom prst="rect">
            <a:avLst/>
          </a:prstGeom>
          <a:noFill/>
        </p:spPr>
        <p:txBody>
          <a:bodyPr wrap="square" lIns="22860" rIns="22860" tIns="13716" bIns="13716">
            <a:spAutoFit/>
          </a:bodyPr>
          <a:lstStyle/>
          <a:p>
            <a:pPr algn="l">
              <a:spcAft>
                <a:spcPts val="700"/>
              </a:spcAft>
              <a:defRPr sz="900" b="0">
                <a:solidFill>
                  <a:srgbClr val="526477"/>
                </a:solidFill>
                <a:latin typeface="Arial"/>
              </a:defRPr>
            </a:pPr>
            <a:r>
              <a:t>One-joint educational simulation  •  No physical robot trial</a:t>
            </a:r>
          </a:p>
        </p:txBody>
      </p:sp>
      <p:sp>
        <p:nvSpPr>
          <p:cNvPr id="8" name="TextBox 7"/>
          <p:cNvSpPr txBox="1"/>
          <p:nvPr/>
        </p:nvSpPr>
        <p:spPr>
          <a:xfrm>
            <a:off x="11009376" y="6611112"/>
            <a:ext cx="621792" cy="182880"/>
          </a:xfrm>
          <a:prstGeom prst="rect">
            <a:avLst/>
          </a:prstGeom>
          <a:noFill/>
        </p:spPr>
        <p:txBody>
          <a:bodyPr wrap="square" lIns="22860" rIns="22860" tIns="13716" bIns="13716">
            <a:spAutoFit/>
          </a:bodyPr>
          <a:lstStyle/>
          <a:p>
            <a:pPr algn="r">
              <a:spcAft>
                <a:spcPts val="700"/>
              </a:spcAft>
              <a:defRPr sz="1000" b="0">
                <a:solidFill>
                  <a:srgbClr val="526477"/>
                </a:solidFill>
                <a:latin typeface="Arial"/>
              </a:defRPr>
            </a:pPr>
            <a:r>
              <a:t>18 / 18</a:t>
            </a:r>
          </a:p>
        </p:txBody>
      </p:sp>
      <p:sp>
        <p:nvSpPr>
          <p:cNvPr id="9" name="Rectangle 8"/>
          <p:cNvSpPr/>
          <p:nvPr/>
        </p:nvSpPr>
        <p:spPr>
          <a:xfrm>
            <a:off x="676656" y="1664208"/>
            <a:ext cx="1600200" cy="61264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755648"/>
            <a:ext cx="1435608" cy="484632"/>
          </a:xfrm>
          <a:prstGeom prst="rect">
            <a:avLst/>
          </a:prstGeom>
          <a:noFill/>
        </p:spPr>
        <p:txBody>
          <a:bodyPr wrap="square" lIns="22860" rIns="22860" tIns="13716" bIns="13716">
            <a:spAutoFit/>
          </a:bodyPr>
          <a:lstStyle/>
          <a:p>
            <a:pPr algn="l">
              <a:spcAft>
                <a:spcPts val="700"/>
              </a:spcAft>
              <a:defRPr sz="1600" b="1">
                <a:solidFill>
                  <a:srgbClr val="FFFFFF"/>
                </a:solidFill>
                <a:latin typeface="Arial"/>
              </a:defRPr>
            </a:pPr>
            <a:r>
              <a:t>Policy</a:t>
            </a:r>
          </a:p>
        </p:txBody>
      </p:sp>
      <p:sp>
        <p:nvSpPr>
          <p:cNvPr id="11" name="Rectangle 10"/>
          <p:cNvSpPr/>
          <p:nvPr/>
        </p:nvSpPr>
        <p:spPr>
          <a:xfrm>
            <a:off x="2276856" y="1664208"/>
            <a:ext cx="1389888" cy="61264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68296" y="1755648"/>
            <a:ext cx="1225296" cy="484632"/>
          </a:xfrm>
          <a:prstGeom prst="rect">
            <a:avLst/>
          </a:prstGeom>
          <a:noFill/>
        </p:spPr>
        <p:txBody>
          <a:bodyPr wrap="square" lIns="22860" rIns="22860" tIns="13716" bIns="13716">
            <a:spAutoFit/>
          </a:bodyPr>
          <a:lstStyle/>
          <a:p>
            <a:pPr algn="l">
              <a:spcAft>
                <a:spcPts val="700"/>
              </a:spcAft>
              <a:defRPr sz="1600" b="1">
                <a:solidFill>
                  <a:srgbClr val="FFFFFF"/>
                </a:solidFill>
                <a:latin typeface="Arial"/>
              </a:defRPr>
            </a:pPr>
            <a:r>
              <a:t>Condition</a:t>
            </a:r>
          </a:p>
        </p:txBody>
      </p:sp>
      <p:sp>
        <p:nvSpPr>
          <p:cNvPr id="13" name="Rectangle 12"/>
          <p:cNvSpPr/>
          <p:nvPr/>
        </p:nvSpPr>
        <p:spPr>
          <a:xfrm>
            <a:off x="3666744" y="1664208"/>
            <a:ext cx="2066543" cy="61264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58183" y="1755648"/>
            <a:ext cx="1901951" cy="484632"/>
          </a:xfrm>
          <a:prstGeom prst="rect">
            <a:avLst/>
          </a:prstGeom>
          <a:noFill/>
        </p:spPr>
        <p:txBody>
          <a:bodyPr wrap="square" lIns="22860" rIns="22860" tIns="13716" bIns="13716">
            <a:spAutoFit/>
          </a:bodyPr>
          <a:lstStyle/>
          <a:p>
            <a:pPr algn="l">
              <a:spcAft>
                <a:spcPts val="700"/>
              </a:spcAft>
              <a:defRPr sz="1600" b="1">
                <a:solidFill>
                  <a:srgbClr val="FFFFFF"/>
                </a:solidFill>
                <a:latin typeface="Arial"/>
              </a:defRPr>
            </a:pPr>
            <a:r>
              <a:t>Reward ± SD</a:t>
            </a:r>
          </a:p>
        </p:txBody>
      </p:sp>
      <p:sp>
        <p:nvSpPr>
          <p:cNvPr id="15" name="Rectangle 14"/>
          <p:cNvSpPr/>
          <p:nvPr/>
        </p:nvSpPr>
        <p:spPr>
          <a:xfrm>
            <a:off x="5733288" y="1664208"/>
            <a:ext cx="2414016" cy="61264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24727" y="1755648"/>
            <a:ext cx="2249424" cy="484632"/>
          </a:xfrm>
          <a:prstGeom prst="rect">
            <a:avLst/>
          </a:prstGeom>
          <a:noFill/>
        </p:spPr>
        <p:txBody>
          <a:bodyPr wrap="square" lIns="22860" rIns="22860" tIns="13716" bIns="13716">
            <a:spAutoFit/>
          </a:bodyPr>
          <a:lstStyle/>
          <a:p>
            <a:pPr algn="l">
              <a:spcAft>
                <a:spcPts val="700"/>
              </a:spcAft>
              <a:defRPr sz="1600" b="1">
                <a:solidFill>
                  <a:srgbClr val="FFFFFF"/>
                </a:solidFill>
                <a:latin typeface="Arial"/>
              </a:defRPr>
            </a:pPr>
            <a:r>
              <a:t>RMSE ± SD (rad)</a:t>
            </a:r>
          </a:p>
        </p:txBody>
      </p:sp>
      <p:sp>
        <p:nvSpPr>
          <p:cNvPr id="17" name="Rectangle 16"/>
          <p:cNvSpPr/>
          <p:nvPr/>
        </p:nvSpPr>
        <p:spPr>
          <a:xfrm>
            <a:off x="8147304" y="1664208"/>
            <a:ext cx="1371600" cy="61264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1755648"/>
            <a:ext cx="1207008" cy="484632"/>
          </a:xfrm>
          <a:prstGeom prst="rect">
            <a:avLst/>
          </a:prstGeom>
          <a:noFill/>
        </p:spPr>
        <p:txBody>
          <a:bodyPr wrap="square" lIns="22860" rIns="22860" tIns="13716" bIns="13716">
            <a:spAutoFit/>
          </a:bodyPr>
          <a:lstStyle/>
          <a:p>
            <a:pPr algn="l">
              <a:spcAft>
                <a:spcPts val="700"/>
              </a:spcAft>
              <a:defRPr sz="1600" b="1">
                <a:solidFill>
                  <a:srgbClr val="FFFFFF"/>
                </a:solidFill>
                <a:latin typeface="Arial"/>
              </a:defRPr>
            </a:pPr>
            <a:r>
              <a:t>Success</a:t>
            </a:r>
          </a:p>
        </p:txBody>
      </p:sp>
      <p:sp>
        <p:nvSpPr>
          <p:cNvPr id="19" name="Rectangle 18"/>
          <p:cNvSpPr/>
          <p:nvPr/>
        </p:nvSpPr>
        <p:spPr>
          <a:xfrm>
            <a:off x="9518904" y="1664208"/>
            <a:ext cx="1956816" cy="61264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10344" y="1755648"/>
            <a:ext cx="1792224" cy="484632"/>
          </a:xfrm>
          <a:prstGeom prst="rect">
            <a:avLst/>
          </a:prstGeom>
          <a:noFill/>
        </p:spPr>
        <p:txBody>
          <a:bodyPr wrap="square" lIns="22860" rIns="22860" tIns="13716" bIns="13716">
            <a:spAutoFit/>
          </a:bodyPr>
          <a:lstStyle/>
          <a:p>
            <a:pPr algn="l">
              <a:spcAft>
                <a:spcPts val="700"/>
              </a:spcAft>
              <a:defRPr sz="1600" b="1">
                <a:solidFill>
                  <a:srgbClr val="FFFFFF"/>
                </a:solidFill>
                <a:latin typeface="Arial"/>
              </a:defRPr>
            </a:pPr>
            <a:r>
              <a:t>95% interval</a:t>
            </a:r>
          </a:p>
        </p:txBody>
      </p:sp>
      <p:sp>
        <p:nvSpPr>
          <p:cNvPr id="21" name="Rectangle 20"/>
          <p:cNvSpPr/>
          <p:nvPr/>
        </p:nvSpPr>
        <p:spPr>
          <a:xfrm>
            <a:off x="676656" y="2276856"/>
            <a:ext cx="1600200"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68296"/>
            <a:ext cx="1435608"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Fixed</a:t>
            </a:r>
          </a:p>
        </p:txBody>
      </p:sp>
      <p:sp>
        <p:nvSpPr>
          <p:cNvPr id="23" name="Rectangle 22"/>
          <p:cNvSpPr/>
          <p:nvPr/>
        </p:nvSpPr>
        <p:spPr>
          <a:xfrm>
            <a:off x="2276856" y="2276856"/>
            <a:ext cx="1389888"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68296" y="2368296"/>
            <a:ext cx="1225296"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Nominal</a:t>
            </a:r>
          </a:p>
        </p:txBody>
      </p:sp>
      <p:sp>
        <p:nvSpPr>
          <p:cNvPr id="25" name="Rectangle 24"/>
          <p:cNvSpPr/>
          <p:nvPr/>
        </p:nvSpPr>
        <p:spPr>
          <a:xfrm>
            <a:off x="3666744" y="2276856"/>
            <a:ext cx="2066543"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58183" y="2368296"/>
            <a:ext cx="1901951"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93.42 ± 2.64</a:t>
            </a:r>
          </a:p>
        </p:txBody>
      </p:sp>
      <p:sp>
        <p:nvSpPr>
          <p:cNvPr id="27" name="Rectangle 26"/>
          <p:cNvSpPr/>
          <p:nvPr/>
        </p:nvSpPr>
        <p:spPr>
          <a:xfrm>
            <a:off x="5733288" y="2276856"/>
            <a:ext cx="2414016"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24727" y="2368296"/>
            <a:ext cx="2249424"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0.1022 ± 0.0225</a:t>
            </a:r>
          </a:p>
        </p:txBody>
      </p:sp>
      <p:sp>
        <p:nvSpPr>
          <p:cNvPr id="29" name="Rectangle 28"/>
          <p:cNvSpPr/>
          <p:nvPr/>
        </p:nvSpPr>
        <p:spPr>
          <a:xfrm>
            <a:off x="8147304" y="2276856"/>
            <a:ext cx="1371600"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38744" y="2368296"/>
            <a:ext cx="1207008"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100.0%</a:t>
            </a:r>
          </a:p>
        </p:txBody>
      </p:sp>
      <p:sp>
        <p:nvSpPr>
          <p:cNvPr id="31" name="Rectangle 30"/>
          <p:cNvSpPr/>
          <p:nvPr/>
        </p:nvSpPr>
        <p:spPr>
          <a:xfrm>
            <a:off x="9518904" y="2276856"/>
            <a:ext cx="1956816"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10344" y="2368296"/>
            <a:ext cx="1792224"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88.6–100.0%</a:t>
            </a:r>
          </a:p>
        </p:txBody>
      </p:sp>
      <p:sp>
        <p:nvSpPr>
          <p:cNvPr id="33" name="Rectangle 32"/>
          <p:cNvSpPr/>
          <p:nvPr/>
        </p:nvSpPr>
        <p:spPr>
          <a:xfrm>
            <a:off x="676656" y="2889504"/>
            <a:ext cx="160020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2980944"/>
            <a:ext cx="1435608"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Randomized</a:t>
            </a:r>
          </a:p>
        </p:txBody>
      </p:sp>
      <p:sp>
        <p:nvSpPr>
          <p:cNvPr id="35" name="Rectangle 34"/>
          <p:cNvSpPr/>
          <p:nvPr/>
        </p:nvSpPr>
        <p:spPr>
          <a:xfrm>
            <a:off x="2276856" y="2889504"/>
            <a:ext cx="1389888"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68296" y="2980944"/>
            <a:ext cx="1225296"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Nominal</a:t>
            </a:r>
          </a:p>
        </p:txBody>
      </p:sp>
      <p:sp>
        <p:nvSpPr>
          <p:cNvPr id="37" name="Rectangle 36"/>
          <p:cNvSpPr/>
          <p:nvPr/>
        </p:nvSpPr>
        <p:spPr>
          <a:xfrm>
            <a:off x="3666744" y="2889504"/>
            <a:ext cx="2066543"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58183" y="2980944"/>
            <a:ext cx="1901951"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93.67 ± 2.62</a:t>
            </a:r>
          </a:p>
        </p:txBody>
      </p:sp>
      <p:sp>
        <p:nvSpPr>
          <p:cNvPr id="39" name="Rectangle 38"/>
          <p:cNvSpPr/>
          <p:nvPr/>
        </p:nvSpPr>
        <p:spPr>
          <a:xfrm>
            <a:off x="5733288" y="2889504"/>
            <a:ext cx="2414016"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24727" y="2980944"/>
            <a:ext cx="2249424"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0.1037 ± 0.0235</a:t>
            </a:r>
          </a:p>
        </p:txBody>
      </p:sp>
      <p:sp>
        <p:nvSpPr>
          <p:cNvPr id="41" name="Rectangle 40"/>
          <p:cNvSpPr/>
          <p:nvPr/>
        </p:nvSpPr>
        <p:spPr>
          <a:xfrm>
            <a:off x="8147304" y="2889504"/>
            <a:ext cx="137160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38744" y="2980944"/>
            <a:ext cx="1207008"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100.0%</a:t>
            </a:r>
          </a:p>
        </p:txBody>
      </p:sp>
      <p:sp>
        <p:nvSpPr>
          <p:cNvPr id="43" name="Rectangle 42"/>
          <p:cNvSpPr/>
          <p:nvPr/>
        </p:nvSpPr>
        <p:spPr>
          <a:xfrm>
            <a:off x="9518904" y="2889504"/>
            <a:ext cx="1956816"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10344" y="2980944"/>
            <a:ext cx="1792224"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88.6–100.0%</a:t>
            </a:r>
          </a:p>
        </p:txBody>
      </p:sp>
      <p:sp>
        <p:nvSpPr>
          <p:cNvPr id="45" name="Rectangle 44"/>
          <p:cNvSpPr/>
          <p:nvPr/>
        </p:nvSpPr>
        <p:spPr>
          <a:xfrm>
            <a:off x="676656" y="3502152"/>
            <a:ext cx="1600200"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096" y="3593592"/>
            <a:ext cx="1435608"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Fixed</a:t>
            </a:r>
          </a:p>
        </p:txBody>
      </p:sp>
      <p:sp>
        <p:nvSpPr>
          <p:cNvPr id="47" name="Rectangle 46"/>
          <p:cNvSpPr/>
          <p:nvPr/>
        </p:nvSpPr>
        <p:spPr>
          <a:xfrm>
            <a:off x="2276856" y="3502152"/>
            <a:ext cx="1389888"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68296" y="3593592"/>
            <a:ext cx="1225296"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Held-out</a:t>
            </a:r>
          </a:p>
        </p:txBody>
      </p:sp>
      <p:sp>
        <p:nvSpPr>
          <p:cNvPr id="49" name="Rectangle 48"/>
          <p:cNvSpPr/>
          <p:nvPr/>
        </p:nvSpPr>
        <p:spPr>
          <a:xfrm>
            <a:off x="3666744" y="3502152"/>
            <a:ext cx="2066543"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758183" y="3593592"/>
            <a:ext cx="1901951"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34.08 ± 26.05</a:t>
            </a:r>
          </a:p>
        </p:txBody>
      </p:sp>
      <p:sp>
        <p:nvSpPr>
          <p:cNvPr id="51" name="Rectangle 50"/>
          <p:cNvSpPr/>
          <p:nvPr/>
        </p:nvSpPr>
        <p:spPr>
          <a:xfrm>
            <a:off x="5733288" y="3502152"/>
            <a:ext cx="2414016"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824727" y="3593592"/>
            <a:ext cx="2249424"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0.3299 ± 0.0734</a:t>
            </a:r>
          </a:p>
        </p:txBody>
      </p:sp>
      <p:sp>
        <p:nvSpPr>
          <p:cNvPr id="53" name="Rectangle 52"/>
          <p:cNvSpPr/>
          <p:nvPr/>
        </p:nvSpPr>
        <p:spPr>
          <a:xfrm>
            <a:off x="8147304" y="3502152"/>
            <a:ext cx="1371600"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38744" y="3593592"/>
            <a:ext cx="1207008"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46.7%</a:t>
            </a:r>
          </a:p>
        </p:txBody>
      </p:sp>
      <p:sp>
        <p:nvSpPr>
          <p:cNvPr id="55" name="Rectangle 54"/>
          <p:cNvSpPr/>
          <p:nvPr/>
        </p:nvSpPr>
        <p:spPr>
          <a:xfrm>
            <a:off x="9518904" y="3502152"/>
            <a:ext cx="1956816" cy="61264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10344" y="3593592"/>
            <a:ext cx="1792224"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30.2–63.9%</a:t>
            </a:r>
          </a:p>
        </p:txBody>
      </p:sp>
      <p:sp>
        <p:nvSpPr>
          <p:cNvPr id="57" name="Rectangle 56"/>
          <p:cNvSpPr/>
          <p:nvPr/>
        </p:nvSpPr>
        <p:spPr>
          <a:xfrm>
            <a:off x="676656" y="4114800"/>
            <a:ext cx="160020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68096" y="4206240"/>
            <a:ext cx="1435608"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Randomized</a:t>
            </a:r>
          </a:p>
        </p:txBody>
      </p:sp>
      <p:sp>
        <p:nvSpPr>
          <p:cNvPr id="59" name="Rectangle 58"/>
          <p:cNvSpPr/>
          <p:nvPr/>
        </p:nvSpPr>
        <p:spPr>
          <a:xfrm>
            <a:off x="2276856" y="4114800"/>
            <a:ext cx="1389888"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368296" y="4206240"/>
            <a:ext cx="1225296"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Held-out</a:t>
            </a:r>
          </a:p>
        </p:txBody>
      </p:sp>
      <p:sp>
        <p:nvSpPr>
          <p:cNvPr id="61" name="Rectangle 60"/>
          <p:cNvSpPr/>
          <p:nvPr/>
        </p:nvSpPr>
        <p:spPr>
          <a:xfrm>
            <a:off x="3666744" y="4114800"/>
            <a:ext cx="2066543"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58183" y="4206240"/>
            <a:ext cx="1901951"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70.97 ± 12.65</a:t>
            </a:r>
          </a:p>
        </p:txBody>
      </p:sp>
      <p:sp>
        <p:nvSpPr>
          <p:cNvPr id="63" name="Rectangle 62"/>
          <p:cNvSpPr/>
          <p:nvPr/>
        </p:nvSpPr>
        <p:spPr>
          <a:xfrm>
            <a:off x="5733288" y="4114800"/>
            <a:ext cx="2414016"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824727" y="4206240"/>
            <a:ext cx="2249424"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0.2250 ± 0.0505</a:t>
            </a:r>
          </a:p>
        </p:txBody>
      </p:sp>
      <p:sp>
        <p:nvSpPr>
          <p:cNvPr id="65" name="Rectangle 64"/>
          <p:cNvSpPr/>
          <p:nvPr/>
        </p:nvSpPr>
        <p:spPr>
          <a:xfrm>
            <a:off x="8147304" y="4114800"/>
            <a:ext cx="137160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238744" y="4206240"/>
            <a:ext cx="1207008"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96.7%</a:t>
            </a:r>
          </a:p>
        </p:txBody>
      </p:sp>
      <p:sp>
        <p:nvSpPr>
          <p:cNvPr id="67" name="Rectangle 66"/>
          <p:cNvSpPr/>
          <p:nvPr/>
        </p:nvSpPr>
        <p:spPr>
          <a:xfrm>
            <a:off x="9518904" y="4114800"/>
            <a:ext cx="1956816"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10344" y="4206240"/>
            <a:ext cx="1792224" cy="484632"/>
          </a:xfrm>
          <a:prstGeom prst="rect">
            <a:avLst/>
          </a:prstGeom>
          <a:noFill/>
        </p:spPr>
        <p:txBody>
          <a:bodyPr wrap="square" lIns="22860" rIns="22860" tIns="13716" bIns="13716">
            <a:spAutoFit/>
          </a:bodyPr>
          <a:lstStyle/>
          <a:p>
            <a:pPr algn="l">
              <a:spcAft>
                <a:spcPts val="700"/>
              </a:spcAft>
              <a:defRPr sz="1600" b="0">
                <a:solidFill>
                  <a:srgbClr val="14283F"/>
                </a:solidFill>
                <a:latin typeface="Arial"/>
              </a:defRPr>
            </a:pPr>
            <a:r>
              <a:t>83.3–99.4%</a:t>
            </a:r>
          </a:p>
        </p:txBody>
      </p:sp>
      <p:sp>
        <p:nvSpPr>
          <p:cNvPr id="69" name="TextBox 68"/>
          <p:cNvSpPr txBox="1"/>
          <p:nvPr/>
        </p:nvSpPr>
        <p:spPr>
          <a:xfrm>
            <a:off x="758952" y="4946904"/>
            <a:ext cx="10698480" cy="384048"/>
          </a:xfrm>
          <a:prstGeom prst="rect">
            <a:avLst/>
          </a:prstGeom>
          <a:noFill/>
        </p:spPr>
        <p:txBody>
          <a:bodyPr wrap="square" lIns="22860" rIns="22860" tIns="13716" bIns="13716">
            <a:spAutoFit/>
          </a:bodyPr>
          <a:lstStyle/>
          <a:p>
            <a:pPr algn="l">
              <a:spcAft>
                <a:spcPts val="700"/>
              </a:spcAft>
              <a:defRPr sz="2200" b="1">
                <a:solidFill>
                  <a:srgbClr val="00746C"/>
                </a:solidFill>
                <a:latin typeface="Arial"/>
              </a:defRPr>
            </a:pPr>
            <a:r>
              <a:t>Replay all 30 seeds without retraining:</a:t>
            </a:r>
          </a:p>
        </p:txBody>
      </p:sp>
      <p:sp>
        <p:nvSpPr>
          <p:cNvPr id="70" name="TextBox 69"/>
          <p:cNvSpPr txBox="1"/>
          <p:nvPr/>
        </p:nvSpPr>
        <p:spPr>
          <a:xfrm>
            <a:off x="758952" y="5477256"/>
            <a:ext cx="10735056" cy="393192"/>
          </a:xfrm>
          <a:prstGeom prst="rect">
            <a:avLst/>
          </a:prstGeom>
          <a:noFill/>
        </p:spPr>
        <p:txBody>
          <a:bodyPr wrap="square" lIns="22860" rIns="22860" tIns="13716" bIns="13716">
            <a:spAutoFit/>
          </a:bodyPr>
          <a:lstStyle/>
          <a:p>
            <a:pPr algn="l">
              <a:spcAft>
                <a:spcPts val="700"/>
              </a:spcAft>
              <a:defRPr sz="1800" b="0">
                <a:solidFill>
                  <a:srgbClr val="14283F"/>
                </a:solidFill>
                <a:latin typeface="Consolas"/>
              </a:defRPr>
            </a:pPr>
            <a:r>
              <a:t>.\.venv\Scripts\python.exe classroom\demo.py --trials 30 --rounds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6010: Sim-to-Real Joint Tracking with PPO</dc:title>
  <dc:subject>Mechatronics student classroom demonstration and verified results</dc:subject>
  <dc:creator>ENGR 6010 student presenter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